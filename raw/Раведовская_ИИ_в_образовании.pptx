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35"/>
  </p:notesMasterIdLst>
  <p:sldIdLst>
    <p:sldId id="17081" r:id="rId3"/>
    <p:sldId id="265" r:id="rId4"/>
    <p:sldId id="260" r:id="rId5"/>
    <p:sldId id="17084" r:id="rId6"/>
    <p:sldId id="263" r:id="rId7"/>
    <p:sldId id="264" r:id="rId8"/>
    <p:sldId id="17085" r:id="rId9"/>
    <p:sldId id="17043" r:id="rId10"/>
    <p:sldId id="17089" r:id="rId11"/>
    <p:sldId id="17051" r:id="rId12"/>
    <p:sldId id="17065" r:id="rId13"/>
    <p:sldId id="269" r:id="rId14"/>
    <p:sldId id="661" r:id="rId15"/>
    <p:sldId id="270" r:id="rId16"/>
    <p:sldId id="669" r:id="rId17"/>
    <p:sldId id="271" r:id="rId18"/>
    <p:sldId id="17067" r:id="rId19"/>
    <p:sldId id="17096" r:id="rId20"/>
    <p:sldId id="390" r:id="rId21"/>
    <p:sldId id="391" r:id="rId22"/>
    <p:sldId id="392" r:id="rId23"/>
    <p:sldId id="393" r:id="rId24"/>
    <p:sldId id="17090" r:id="rId25"/>
    <p:sldId id="17091" r:id="rId26"/>
    <p:sldId id="17092" r:id="rId27"/>
    <p:sldId id="17093" r:id="rId28"/>
    <p:sldId id="17097" r:id="rId29"/>
    <p:sldId id="17094" r:id="rId30"/>
    <p:sldId id="17098" r:id="rId31"/>
    <p:sldId id="17099" r:id="rId32"/>
    <p:sldId id="267" r:id="rId33"/>
    <p:sldId id="17082" r:id="rId34"/>
  </p:sldIdLst>
  <p:sldSz cx="12192000" cy="6858000"/>
  <p:notesSz cx="6858000" cy="9144000"/>
  <p:embeddedFontLst>
    <p:embeddedFont>
      <p:font typeface="PT Sans" panose="020B050302020302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9" roundtripDataSignature="AMtx7mh+yiyanFX0lWgOnms8u6fUsCU2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A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0"/>
    <p:restoredTop sz="83826"/>
  </p:normalViewPr>
  <p:slideViewPr>
    <p:cSldViewPr snapToGrid="0">
      <p:cViewPr varScale="1">
        <p:scale>
          <a:sx n="93" d="100"/>
          <a:sy n="93" d="100"/>
        </p:scale>
        <p:origin x="1416" y="192"/>
      </p:cViewPr>
      <p:guideLst>
        <p:guide orient="horz" pos="2160"/>
        <p:guide pos="3840"/>
      </p:guideLst>
    </p:cSldViewPr>
  </p:slideViewPr>
  <p:notesTextViewPr>
    <p:cViewPr>
      <p:scale>
        <a:sx n="90" d="100"/>
        <a:sy n="9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79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82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2769999999999996E-2"/>
          <c:y val="0.20369999999999999"/>
          <c:w val="0.43645"/>
          <c:h val="0.77592000000000005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доля времени</c:v>
                </c:pt>
              </c:strCache>
            </c:strRef>
          </c:tx>
          <c:dPt>
            <c:idx val="0"/>
            <c:bubble3D val="0"/>
            <c:spPr bwMode="auto"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592-A544-83B8-27C8CBDBC7F5}"/>
              </c:ext>
            </c:extLst>
          </c:dPt>
          <c:dPt>
            <c:idx val="1"/>
            <c:bubble3D val="0"/>
            <c:spPr bwMode="auto"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592-A544-83B8-27C8CBDBC7F5}"/>
              </c:ext>
            </c:extLst>
          </c:dPt>
          <c:dPt>
            <c:idx val="2"/>
            <c:bubble3D val="0"/>
            <c:spPr bwMode="auto"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592-A544-83B8-27C8CBDBC7F5}"/>
              </c:ext>
            </c:extLst>
          </c:dPt>
          <c:dPt>
            <c:idx val="3"/>
            <c:bubble3D val="0"/>
            <c:spPr bwMode="auto"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592-A544-83B8-27C8CBDBC7F5}"/>
              </c:ext>
            </c:extLst>
          </c:dPt>
          <c:dPt>
            <c:idx val="4"/>
            <c:bubble3D val="0"/>
            <c:spPr bwMode="auto"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4592-A544-83B8-27C8CBDBC7F5}"/>
              </c:ext>
            </c:extLst>
          </c:dPt>
          <c:dPt>
            <c:idx val="5"/>
            <c:bubble3D val="0"/>
            <c:spPr bwMode="auto"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4592-A544-83B8-27C8CBDBC7F5}"/>
              </c:ext>
            </c:extLst>
          </c:dPt>
          <c:dLbls>
            <c:dLbl>
              <c:idx val="0"/>
              <c:layout>
                <c:manualLayout>
                  <c:x val="9.401063984725877E-2"/>
                  <c:y val="2.252019215658369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099" tIns="19049" rIns="38099" bIns="19049" anchor="ctr" anchorCtr="1">
                  <a:noAutofit/>
                </a:bodyPr>
                <a:lstStyle/>
                <a:p>
                  <a:pPr>
                    <a:defRPr sz="1600" b="1" i="0" u="none" strike="noStrike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4453416544660167"/>
                      <c:h val="0.1762690470874809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592-A544-83B8-27C8CBDBC7F5}"/>
                </c:ext>
              </c:extLst>
            </c:dLbl>
            <c:dLbl>
              <c:idx val="1"/>
              <c:layout>
                <c:manualLayout>
                  <c:x val="3.7604218926877007E-2"/>
                  <c:y val="6.722543510193550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099" tIns="19049" rIns="38099" bIns="19049" anchor="ctr" anchorCtr="1">
                  <a:noAutofit/>
                </a:bodyPr>
                <a:lstStyle/>
                <a:p>
                  <a:pPr>
                    <a:defRPr sz="1600" b="1" i="0" u="none" strike="noStrike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6441451954862555"/>
                      <c:h val="0.1498688930935118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592-A544-83B8-27C8CBDBC7F5}"/>
                </c:ext>
              </c:extLst>
            </c:dLbl>
            <c:dLbl>
              <c:idx val="2"/>
              <c:layout>
                <c:manualLayout>
                  <c:x val="7.9781668098533376E-2"/>
                  <c:y val="-9.1500439240358358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099" tIns="19049" rIns="38099" bIns="19049" anchor="ctr" anchorCtr="1">
                  <a:spAutoFit/>
                </a:bodyPr>
                <a:lstStyle/>
                <a:p>
                  <a:pPr>
                    <a:defRPr sz="1600" b="1" i="0" u="none" strike="noStrike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8674365537924368"/>
                      <c:h val="0.449452851611594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4592-A544-83B8-27C8CBDBC7F5}"/>
                </c:ext>
              </c:extLst>
            </c:dLbl>
            <c:dLbl>
              <c:idx val="3"/>
              <c:layout>
                <c:manualLayout>
                  <c:x val="5.8880667441649659E-2"/>
                  <c:y val="0.2402414013451190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099" tIns="19049" rIns="38099" bIns="19049" anchor="ctr" anchorCtr="1">
                  <a:spAutoFit/>
                </a:bodyPr>
                <a:lstStyle/>
                <a:p>
                  <a:pPr>
                    <a:defRPr sz="1600" b="1" i="0" u="none" strike="noStrike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5085283769240768"/>
                      <c:h val="0.1551489238923056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4592-A544-83B8-27C8CBDBC7F5}"/>
                </c:ext>
              </c:extLst>
            </c:dLbl>
            <c:dLbl>
              <c:idx val="4"/>
              <c:layout>
                <c:manualLayout>
                  <c:x val="9.2530066257079247E-8"/>
                  <c:y val="-0.14566015202384824"/>
                </c:manualLayout>
              </c:layout>
              <c:spPr>
                <a:noFill/>
                <a:ln>
                  <a:noFill/>
                  <a:miter/>
                </a:ln>
                <a:effectLst/>
              </c:spPr>
              <c:txPr>
                <a:bodyPr rot="0" spcFirstLastPara="1" vertOverflow="ellipsis" vert="horz" wrap="square" lIns="38099" tIns="19049" rIns="38099" bIns="19049" anchor="ctr" anchorCtr="1">
                  <a:noAutofit/>
                </a:bodyPr>
                <a:lstStyle/>
                <a:p>
                  <a:pPr>
                    <a:defRPr sz="1600" b="1" i="0" u="none" strike="noStrike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8146734435261817"/>
                      <c:h val="0.25080104719225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4592-A544-83B8-27C8CBDBC7F5}"/>
                </c:ext>
              </c:extLst>
            </c:dLbl>
            <c:dLbl>
              <c:idx val="5"/>
              <c:layout>
                <c:manualLayout>
                  <c:x val="0.11281274931069728"/>
                  <c:y val="-6.089531952471102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099" tIns="19049" rIns="38099" bIns="19049" anchor="ctr" anchorCtr="1">
                  <a:noAutofit/>
                </a:bodyPr>
                <a:lstStyle/>
                <a:p>
                  <a:pPr>
                    <a:defRPr sz="1600" b="1" i="0" u="none" strike="noStrike" spc="0" baseline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37468436870646621"/>
                      <c:h val="0.2717303409278469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4592-A544-83B8-27C8CBDBC7F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099" tIns="19049" rIns="38099" bIns="19049" anchor="ctr" anchorCtr="1">
                <a:spAutoFit/>
              </a:bodyPr>
              <a:lstStyle/>
              <a:p>
                <a:pPr>
                  <a:defRPr sz="1600" b="1" i="0" u="none" strike="noStrike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 bwMode="auto">
                <a:prstGeom prst="rect">
                  <a:avLst/>
                </a:prstGeom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Лист1!$A$2:$A$7</c:f>
              <c:strCache>
                <c:ptCount val="6"/>
                <c:pt idx="0">
                  <c:v>слушание</c:v>
                </c:pt>
                <c:pt idx="1">
                  <c:v>дискуссии</c:v>
                </c:pt>
                <c:pt idx="2">
                  <c:v>работа в командах с ИИ над ключевыми задачами</c:v>
                </c:pt>
                <c:pt idx="3">
                  <c:v>рефлексия</c:v>
                </c:pt>
                <c:pt idx="4">
                  <c:v>кросс-командная работа</c:v>
                </c:pt>
                <c:pt idx="5">
                  <c:v>дополнительные упражнения</c:v>
                </c:pt>
              </c:strCache>
            </c:strRef>
          </c:cat>
          <c:val>
            <c:numRef>
              <c:f>Лист1!$B$2:$B$7</c:f>
              <c:numCache>
                <c:formatCode>General</c:formatCode>
                <c:ptCount val="6"/>
                <c:pt idx="0">
                  <c:v>6</c:v>
                </c:pt>
                <c:pt idx="1">
                  <c:v>8</c:v>
                </c:pt>
                <c:pt idx="2">
                  <c:v>49</c:v>
                </c:pt>
                <c:pt idx="3">
                  <c:v>4</c:v>
                </c:pt>
                <c:pt idx="4">
                  <c:v>14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592-A544-83B8-27C8CBDBC7F5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>
      <a:off x="241056" y="615461"/>
      <a:ext cx="11998568" cy="6242537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cs:styleClr val="auto"/>
    </cs:fontRef>
    <cs:defRPr sz="1350" b="1" i="0" u="none" strike="noStrike" spc="0"/>
  </cs:dataLabel>
  <cs:dataLabelCallout>
    <cs:lnRef idx="0"/>
    <cs:fillRef idx="0"/>
    <cs:effectRef idx="0"/>
    <cs:fontRef idx="minor">
      <cs:styleClr val="auto"/>
    </cs:fontRef>
    <cs:defRPr sz="1350" b="1" i="0" u="none" strike="noStrike" spc="0"/>
  </cs:dataLabelCallout>
  <cs:dataPoint>
    <cs:lnRef idx="0"/>
    <cs:fillRef idx="0">
      <cs:styleClr val="auto"/>
    </cs:fillRef>
    <cs:effectRef idx="0"/>
    <cs:fontRef idx="minor">
      <a:schemeClr val="dk1"/>
    </cs:fontRef>
    <cs:spPr bwMode="auto">
      <a:prstGeom prst="rect">
        <a:avLst/>
      </a:prstGeom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 bwMode="auto">
      <a:prstGeom prst="rect">
        <a:avLst/>
      </a:prstGeom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 bwMode="auto">
      <a:prstGeom prst="rect">
        <a:avLst/>
      </a:prstGeom>
      <a:solidFill>
        <a:schemeClr val="phClr"/>
      </a:solidFill>
      <a:ln w="9525">
        <a:solidFill>
          <a:schemeClr val="lt1"/>
        </a:solidFill>
      </a:ln>
    </cs:spPr>
  </cs:dataPointMarker>
  <cs:dataPointMarkerLayout/>
  <cs:dataPointWireframe>
    <cs:lnRef idx="0">
      <cs:styleClr val="auto"/>
    </cs:lnRef>
    <cs:fillRef idx="0"/>
    <cs:effectRef idx="0"/>
    <cs:fontRef idx="minor">
      <a:schemeClr val="dk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50" b="1" cap="all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ash"/>
        <a:bevel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3947/2414-1143-2025-11-4-19-28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1992/0869-3617-2026-35-1-77-95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D6213-B495-0F86-F610-D044CF3DBD8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97884" name="Образ слайда 1">
            <a:extLst>
              <a:ext uri="{FF2B5EF4-FFF2-40B4-BE49-F238E27FC236}">
                <a16:creationId xmlns:a16="http://schemas.microsoft.com/office/drawing/2014/main" id="{E87B2072-BC90-D265-F445-F0ABACFE3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26430778" name="Заметки 2">
            <a:extLst>
              <a:ext uri="{FF2B5EF4-FFF2-40B4-BE49-F238E27FC236}">
                <a16:creationId xmlns:a16="http://schemas.microsoft.com/office/drawing/2014/main" id="{0F2D4C01-7A0A-36B8-AAAA-01EF52E37E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Необходимость перепроектирования назрела давно</a:t>
            </a:r>
            <a:endParaRPr/>
          </a:p>
        </p:txBody>
      </p:sp>
      <p:sp>
        <p:nvSpPr>
          <p:cNvPr id="2078084303" name="Номер слайда 3">
            <a:extLst>
              <a:ext uri="{FF2B5EF4-FFF2-40B4-BE49-F238E27FC236}">
                <a16:creationId xmlns:a16="http://schemas.microsoft.com/office/drawing/2014/main" id="{7A1689DF-DDEC-BF51-F751-D1A85F84B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96DAEB3-D80B-6110-9AA6-0AC85DEF0098}" type="slidenum">
              <a:rPr lang="ru-RU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308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феврале выйдет статья про функции и </a:t>
            </a:r>
            <a:r>
              <a:rPr lang="ru-RU"/>
              <a:t>задачи преподавателя </a:t>
            </a:r>
          </a:p>
        </p:txBody>
      </p:sp>
    </p:spTree>
    <p:extLst>
      <p:ext uri="{BB962C8B-B14F-4D97-AF65-F5344CB8AC3E}">
        <p14:creationId xmlns:p14="http://schemas.microsoft.com/office/powerpoint/2010/main" val="1459087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 содержанию – от </a:t>
            </a:r>
            <a:r>
              <a:rPr lang="ru-RU" dirty="0" err="1"/>
              <a:t>хардовых</a:t>
            </a:r>
            <a:r>
              <a:rPr lang="ru-RU" dirty="0"/>
              <a:t> до </a:t>
            </a:r>
            <a:r>
              <a:rPr lang="ru-RU" dirty="0" err="1"/>
              <a:t>софтовых</a:t>
            </a:r>
            <a:endParaRPr lang="ru-RU" dirty="0"/>
          </a:p>
          <a:p>
            <a:r>
              <a:rPr lang="ru-RU" dirty="0"/>
              <a:t>По уровню радикальности (эксперт отсутствует в классе, эксперт работает в классе)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0496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4F0B3C46-AB61-7562-E45C-1A2FFE8A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24d54116f_0_9:notes">
            <a:extLst>
              <a:ext uri="{FF2B5EF4-FFF2-40B4-BE49-F238E27FC236}">
                <a16:creationId xmlns:a16="http://schemas.microsoft.com/office/drawing/2014/main" id="{AE6EADBF-A280-4030-5636-7317095E1A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24d54116f_0_9:notes">
            <a:extLst>
              <a:ext uri="{FF2B5EF4-FFF2-40B4-BE49-F238E27FC236}">
                <a16:creationId xmlns:a16="http://schemas.microsoft.com/office/drawing/2014/main" id="{CB643432-48D7-B804-1CF0-EE979B5E11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/>
              <a:t>Одна из публикаций 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Шабанова А., </a:t>
            </a:r>
            <a:r>
              <a:rPr lang="ru-R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Щербенок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А., Диденко А., </a:t>
            </a:r>
            <a:r>
              <a:rPr lang="ru-R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Раемгулова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Р., Матвеева С., Раведовская У., Филатова А., </a:t>
            </a:r>
            <a:r>
              <a:rPr lang="ru-R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Балакир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А., </a:t>
            </a:r>
            <a:r>
              <a:rPr lang="ru-R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Запыльхин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В. ИИ вместо профессора: прорыв в образовании (AI </a:t>
            </a:r>
            <a:r>
              <a:rPr lang="ru-R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Instead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Professor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Breakthrough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Education) [Электронный ресурс]. – 2025. – Режим доступа: SSRN, URL: </a:t>
            </a:r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https</a:t>
            </a:r>
            <a:r>
              <a:rPr lang="ru-RU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://</a:t>
            </a:r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papers</a:t>
            </a:r>
            <a:r>
              <a:rPr lang="ru-RU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100" b="0" i="0" u="sng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ssrn</a:t>
            </a:r>
            <a:r>
              <a:rPr lang="ru-RU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com</a:t>
            </a:r>
            <a:r>
              <a:rPr lang="ru-RU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sol</a:t>
            </a:r>
            <a:r>
              <a:rPr lang="ru-RU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3/</a:t>
            </a:r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papers</a:t>
            </a:r>
            <a:r>
              <a:rPr lang="ru-RU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cfm</a:t>
            </a:r>
            <a:r>
              <a:rPr lang="ru-RU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?</a:t>
            </a:r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abstract</a:t>
            </a:r>
            <a:r>
              <a:rPr lang="ru-RU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_</a:t>
            </a:r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ru-RU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=5344290</a:t>
            </a:r>
            <a:endParaRPr lang="ru-RU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9668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502C924-2205-DD24-CD1E-B9504A2EB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AB1B38E-1956-BD08-ABC7-2A4F3E1E8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2023 – традиционный курс из лекций (75%) и семинаров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2024 – первая пересборка, экспертов вывели из аудитории, оставили медиатора и ИИ-персону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2025 – вторая пересборка, эксперт был доступен студентам ограниченное время (у него были конкретные задачи), медиаторы и 2 ИИ-персоны</a:t>
            </a: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0EF705E-F1CE-5655-1875-7ACA2070FB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4566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870C74E-7B62-1DC1-B18C-21CFE211C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D47670B1-8F06-B025-E0FD-0C043060D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2FB2C72-557E-A97A-B90D-F988537B7F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2127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C9B7F9E-AA50-27BB-C951-66255959F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2DD106-3BCD-4E91-25AE-D1E03498D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6431299A-3057-7238-A023-3D94E3593F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07106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5727D2FF-9F9C-18E1-789E-B9A86D344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24d54116f_0_9:notes">
            <a:extLst>
              <a:ext uri="{FF2B5EF4-FFF2-40B4-BE49-F238E27FC236}">
                <a16:creationId xmlns:a16="http://schemas.microsoft.com/office/drawing/2014/main" id="{46940BB2-07D5-BD16-75D3-DD52C48E12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24d54116f_0_9:notes">
            <a:extLst>
              <a:ext uri="{FF2B5EF4-FFF2-40B4-BE49-F238E27FC236}">
                <a16:creationId xmlns:a16="http://schemas.microsoft.com/office/drawing/2014/main" id="{92D9C11D-ACBF-1535-6C40-A276F5C9A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3458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2AEFA-CA1D-40A6-A046-591C04BAA75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535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2AEFA-CA1D-40A6-A046-591C04BAA75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4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2AEFA-CA1D-40A6-A046-591C04BAA75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000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 оценке результата участвовали эксперты, внешние для курса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Весной 2024 года контрольная группа - 16 студентов, экспериментальная группа - 17 студентов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u="none" strike="noStrike" kern="1200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Осенью 2025 года контрольная группа – 19 студентов, экспериментальная группа – 17 студентов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2AEFA-CA1D-40A6-A046-591C04BAA75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414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F25FABB4-10F2-D7EE-9F4E-FEB1A7151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24d54116f_0_9:notes">
            <a:extLst>
              <a:ext uri="{FF2B5EF4-FFF2-40B4-BE49-F238E27FC236}">
                <a16:creationId xmlns:a16="http://schemas.microsoft.com/office/drawing/2014/main" id="{B46FE313-D3DF-ADDE-8A20-2DC12DFD3B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24d54116f_0_9:notes">
            <a:extLst>
              <a:ext uri="{FF2B5EF4-FFF2-40B4-BE49-F238E27FC236}">
                <a16:creationId xmlns:a16="http://schemas.microsoft.com/office/drawing/2014/main" id="{53EDD101-3160-6475-E058-F08A9384A4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5864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Статья с результатами:  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Филатова А.А., Ли А.А. Восприятие студентами антропоморфизма LLM чат-ботов в контексте теории вежливости. Научный альманах стран Причерноморья. 2025;11(4):19-28. 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  <a:hlinkClick r:id="rId3"/>
              </a:rPr>
              <a:t>https://doi.org/10.23947/2414-1143-2025-11-4-19-28</a:t>
            </a:r>
            <a:r>
              <a:rPr lang="ru-RU" dirty="0">
                <a:effectLst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81579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6A855-C13F-711F-50F2-7ACBA2BCD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B09F5A8-140B-0910-97E8-DC9A1277C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3DED7CC-8F6E-05D6-F6A2-528E35FAB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проектирование интерфейсов должно рассматривать антропоморфизм как</a:t>
            </a:r>
          </a:p>
          <a:p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многомерный феномен: целесообразно разделять сигналы</a:t>
            </a:r>
          </a:p>
          <a:p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«человекообразности» и сигналы разумности и намеренно комбинировать их</a:t>
            </a:r>
          </a:p>
          <a:p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в зависимости от задач (эмпатические сценарии против информационно-</a:t>
            </a:r>
          </a:p>
          <a:p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фактических)</a:t>
            </a:r>
          </a:p>
          <a:p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управляемая поведенческая «несовершенность» (элементы человеческой</a:t>
            </a:r>
          </a:p>
          <a:p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неточности или прямолинейности) может усилить ощущение социального</a:t>
            </a:r>
          </a:p>
          <a:p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присутствия, но одновременно снижать восприятие компетентности; это важно</a:t>
            </a:r>
          </a:p>
          <a:p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учитывать при выборе тональности для образовательных ИИ-агентов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8382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ru-RU" dirty="0"/>
              <a:t>Статья здесь </a:t>
            </a:r>
            <a:r>
              <a:rPr lang="e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https://</a:t>
            </a:r>
            <a:r>
              <a:rPr lang="en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vovr.elpub.ru</a:t>
            </a:r>
            <a:r>
              <a:rPr lang="e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/jour/article/view/5950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  <a:hlinkClick r:id="rId3"/>
              </a:rPr>
              <a:t>https://doi.org/10.31992/0869-3617-2026-35-1-77-95</a:t>
            </a:r>
            <a:r>
              <a:rPr lang="ru-R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endParaRPr lang="en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66465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5D657CBE-6E6A-8B32-CE49-28605103C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24d54116f_0_9:notes">
            <a:extLst>
              <a:ext uri="{FF2B5EF4-FFF2-40B4-BE49-F238E27FC236}">
                <a16:creationId xmlns:a16="http://schemas.microsoft.com/office/drawing/2014/main" id="{69BEFDB2-AA42-FE13-30E8-14C272920C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24d54116f_0_9:notes">
            <a:extLst>
              <a:ext uri="{FF2B5EF4-FFF2-40B4-BE49-F238E27FC236}">
                <a16:creationId xmlns:a16="http://schemas.microsoft.com/office/drawing/2014/main" id="{EDD897EE-ABF9-8E8C-3651-3BDB0D1086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8734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F34BE-0440-228E-2E75-CD1C2C0C4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223" y="379187"/>
            <a:ext cx="10515600" cy="840014"/>
          </a:xfrm>
        </p:spPr>
        <p:txBody>
          <a:bodyPr/>
          <a:lstStyle/>
          <a:p>
            <a:r>
              <a:rPr lang="ru-RU" dirty="0"/>
              <a:t>Образец заголовка</a:t>
            </a:r>
            <a:endParaRPr lang="ru-FR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DAEC43F-3A4F-91D6-26CE-7D17C8CF12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05882" y="379186"/>
            <a:ext cx="765895" cy="840014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1C82BB69-6159-B7B4-51F6-5C35505927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0675" y="1770063"/>
            <a:ext cx="10515600" cy="4673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FR"/>
          </a:p>
        </p:txBody>
      </p:sp>
    </p:spTree>
    <p:extLst>
      <p:ext uri="{BB962C8B-B14F-4D97-AF65-F5344CB8AC3E}">
        <p14:creationId xmlns:p14="http://schemas.microsoft.com/office/powerpoint/2010/main" val="4179415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41A2194-2ED8-442F-D405-22FB39FE0F85}"/>
              </a:ext>
            </a:extLst>
          </p:cNvPr>
          <p:cNvSpPr/>
          <p:nvPr userDrawn="1"/>
        </p:nvSpPr>
        <p:spPr>
          <a:xfrm>
            <a:off x="0" y="0"/>
            <a:ext cx="6618514" cy="6858000"/>
          </a:xfrm>
          <a:prstGeom prst="rect">
            <a:avLst/>
          </a:prstGeom>
          <a:solidFill>
            <a:srgbClr val="F374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FR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81841DC-E8FF-0681-A43A-37350619E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2503" y="1219200"/>
            <a:ext cx="56880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FR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FC3A651-78A6-013B-8A8A-849B22E9A0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05882" y="379186"/>
            <a:ext cx="765895" cy="840014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id="{7D71EED6-EBC6-99C1-D3B1-BE5F44A0F7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1890" y="1219201"/>
            <a:ext cx="3645993" cy="4873626"/>
          </a:xfrm>
        </p:spPr>
        <p:txBody>
          <a:bodyPr/>
          <a:lstStyle>
            <a:lvl1pPr marL="0" indent="0">
              <a:buNone/>
              <a:tabLst/>
              <a:defRPr/>
            </a:lvl1pPr>
            <a:lvl2pPr marL="0" indent="0">
              <a:buNone/>
              <a:tabLst/>
              <a:defRPr/>
            </a:lvl2pPr>
            <a:lvl3pPr marL="0" indent="0">
              <a:buNone/>
              <a:tabLst/>
              <a:defRPr/>
            </a:lvl3pPr>
          </a:lstStyle>
          <a:p>
            <a:pPr lvl="0"/>
            <a:r>
              <a:rPr lang="ru-RU" dirty="0"/>
              <a:t>Текст</a:t>
            </a:r>
          </a:p>
          <a:p>
            <a:pPr lvl="1"/>
            <a:r>
              <a:rPr lang="ru-RU" dirty="0"/>
              <a:t>Текст</a:t>
            </a:r>
          </a:p>
          <a:p>
            <a:pPr lvl="2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490957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986A17-977E-D013-DD8E-39A72AE515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05882" y="379186"/>
            <a:ext cx="765895" cy="840014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D4783B8-68A3-8F70-FC0D-58088B27B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223" y="365125"/>
            <a:ext cx="10463891" cy="85407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FR"/>
          </a:p>
        </p:txBody>
      </p:sp>
    </p:spTree>
    <p:extLst>
      <p:ext uri="{BB962C8B-B14F-4D97-AF65-F5344CB8AC3E}">
        <p14:creationId xmlns:p14="http://schemas.microsoft.com/office/powerpoint/2010/main" val="3020623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9D85A-31A7-4045-A7CD-2C4BA5B1D0DB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0DD99-71B4-4900-A11E-1B1F0F0103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50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9D85A-31A7-4045-A7CD-2C4BA5B1D0DB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0DD99-71B4-4900-A11E-1B1F0F0103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4363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9D85A-31A7-4045-A7CD-2C4BA5B1D0DB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0DD99-71B4-4900-A11E-1B1F0F0103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8654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9D85A-31A7-4045-A7CD-2C4BA5B1D0DB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0DD99-71B4-4900-A11E-1B1F0F0103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2682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9D85A-31A7-4045-A7CD-2C4BA5B1D0DB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0DD99-71B4-4900-A11E-1B1F0F0103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464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9D85A-31A7-4045-A7CD-2C4BA5B1D0DB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0DD99-71B4-4900-A11E-1B1F0F0103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3310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9D85A-31A7-4045-A7CD-2C4BA5B1D0DB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0DD99-71B4-4900-A11E-1B1F0F0103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635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9D85A-31A7-4045-A7CD-2C4BA5B1D0DB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0DD99-71B4-4900-A11E-1B1F0F0103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8123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9D85A-31A7-4045-A7CD-2C4BA5B1D0DB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0DD99-71B4-4900-A11E-1B1F0F0103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4750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9D85A-31A7-4045-A7CD-2C4BA5B1D0DB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0DD99-71B4-4900-A11E-1B1F0F0103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4257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9D85A-31A7-4045-A7CD-2C4BA5B1D0DB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0DD99-71B4-4900-A11E-1B1F0F0103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958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  <p:sldLayoutId id="2147483674" r:id="rId13"/>
    <p:sldLayoutId id="2147483675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9D85A-31A7-4045-A7CD-2C4BA5B1D0DB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0DD99-71B4-4900-A11E-1B1F0F0103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80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6A54462-8247-BFD5-CE75-359EB255030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Google Shape;104;p3">
            <a:extLst>
              <a:ext uri="{FF2B5EF4-FFF2-40B4-BE49-F238E27FC236}">
                <a16:creationId xmlns:a16="http://schemas.microsoft.com/office/drawing/2014/main" id="{7C0C2F6D-47DF-72C6-558C-75E0A8836464}"/>
              </a:ext>
            </a:extLst>
          </p:cNvPr>
          <p:cNvSpPr txBox="1"/>
          <p:nvPr/>
        </p:nvSpPr>
        <p:spPr bwMode="auto">
          <a:xfrm>
            <a:off x="203200" y="254001"/>
            <a:ext cx="780042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u="none" strike="noStrike" cap="none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Опыт ТюмГУ 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3" name="Google Shape;105;p3">
            <a:extLst>
              <a:ext uri="{FF2B5EF4-FFF2-40B4-BE49-F238E27FC236}">
                <a16:creationId xmlns:a16="http://schemas.microsoft.com/office/drawing/2014/main" id="{4885A967-4DD8-5F54-9D1B-35AEDB76BA3E}"/>
              </a:ext>
            </a:extLst>
          </p:cNvPr>
          <p:cNvCxnSpPr/>
          <p:nvPr/>
        </p:nvCxnSpPr>
        <p:spPr bwMode="auto"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Google Shape;104;p4">
            <a:extLst>
              <a:ext uri="{FF2B5EF4-FFF2-40B4-BE49-F238E27FC236}">
                <a16:creationId xmlns:a16="http://schemas.microsoft.com/office/drawing/2014/main" id="{5159B5F4-8AB6-0277-115E-DCDBE0091923}"/>
              </a:ext>
            </a:extLst>
          </p:cNvPr>
          <p:cNvSpPr txBox="1">
            <a:spLocks/>
          </p:cNvSpPr>
          <p:nvPr/>
        </p:nvSpPr>
        <p:spPr>
          <a:xfrm>
            <a:off x="203200" y="1041402"/>
            <a:ext cx="11417300" cy="564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2800"/>
              <a:buNone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ТюмГУ с начала 2024 года запустил проект по внедрению ИИ в образовательный процесс. Идея – замена профессора на ИИ в аудитории для решения кадрового вопроса, а также переосмысления целей и процесса образования в современном контексте. </a:t>
            </a:r>
          </a:p>
          <a:p>
            <a:pPr marL="17780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2800"/>
              <a:buNone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Автор идеи – Андрей </a:t>
            </a:r>
            <a:r>
              <a:rPr lang="ru-RU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Щербенок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7780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2800"/>
              <a:buNone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Первая площадка экспериментов – Школа перспективных исследований (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SAS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7780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ts val="2800"/>
              <a:buNone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Из успехов: 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 На сегодня более</a:t>
            </a:r>
            <a:r>
              <a:rPr lang="ru-RU" sz="2000" b="1" dirty="0">
                <a:latin typeface="Calibri" panose="020F0502020204030204" pitchFamily="34" charset="0"/>
                <a:cs typeface="Calibri" panose="020F0502020204030204" pitchFamily="34" charset="0"/>
              </a:rPr>
              <a:t> 60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 экспериментов, более </a:t>
            </a:r>
            <a:r>
              <a:rPr lang="ru-RU" sz="2000" b="1" dirty="0">
                <a:latin typeface="Calibri" panose="020F0502020204030204" pitchFamily="34" charset="0"/>
                <a:cs typeface="Calibri" panose="020F0502020204030204" pitchFamily="34" charset="0"/>
              </a:rPr>
              <a:t>60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 ИИ-персон, более </a:t>
            </a:r>
            <a:r>
              <a:rPr lang="ru-RU" sz="2000" b="1" dirty="0">
                <a:latin typeface="Calibri" panose="020F0502020204030204" pitchFamily="34" charset="0"/>
                <a:cs typeface="Calibri" panose="020F0502020204030204" pitchFamily="34" charset="0"/>
              </a:rPr>
              <a:t>2000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 студентов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Открытие Центра образовательных разработок на основе технологий ИИ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Запуск регулярных межуниверситетских исследовательских семинаров для работы с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R&amp;D-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повесткой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Поддержанная Минобрнауки заявка на выполнение государственного задания «</a:t>
            </a:r>
            <a:r>
              <a:rPr lang="ru-RU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Прикладные исследования по внедрению технологий ИИ в высшее образование»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Ежегодный Форум «ИИ в высшем образовании»</a:t>
            </a: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38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580024" name="Заголовок 1"/>
          <p:cNvSpPr txBox="1"/>
          <p:nvPr/>
        </p:nvSpPr>
        <p:spPr bwMode="auto">
          <a:xfrm>
            <a:off x="150670" y="1994246"/>
            <a:ext cx="2984108" cy="573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2000" b="1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Функции преподавателя в аудитории</a:t>
            </a:r>
            <a:endParaRPr sz="2000">
              <a:solidFill>
                <a:srgbClr val="FF6B02"/>
              </a:solidFill>
              <a:latin typeface="Calibri"/>
              <a:ea typeface="Gramatika"/>
            </a:endParaRPr>
          </a:p>
        </p:txBody>
      </p:sp>
      <p:sp>
        <p:nvSpPr>
          <p:cNvPr id="1329781069" name="Заголовок 1"/>
          <p:cNvSpPr txBox="1"/>
          <p:nvPr/>
        </p:nvSpPr>
        <p:spPr bwMode="auto">
          <a:xfrm>
            <a:off x="150670" y="2893835"/>
            <a:ext cx="3840032" cy="113508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spcBef>
                <a:spcPts val="1199"/>
              </a:spcBef>
              <a:spcAft>
                <a:spcPts val="599"/>
              </a:spcAft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Источник экспертизы</a:t>
            </a:r>
            <a:endParaRPr/>
          </a:p>
          <a:p>
            <a:pPr algn="l">
              <a:lnSpc>
                <a:spcPct val="150000"/>
              </a:lnSpc>
              <a:spcBef>
                <a:spcPts val="1199"/>
              </a:spcBef>
              <a:spcAft>
                <a:spcPts val="599"/>
              </a:spcAft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Картограф предметной области</a:t>
            </a:r>
            <a:endParaRPr sz="1700">
              <a:latin typeface="Calibri"/>
              <a:ea typeface="Gramatika"/>
            </a:endParaRPr>
          </a:p>
        </p:txBody>
      </p:sp>
      <p:sp>
        <p:nvSpPr>
          <p:cNvPr id="1135414231" name="TextBox 5"/>
          <p:cNvSpPr txBox="1"/>
          <p:nvPr/>
        </p:nvSpPr>
        <p:spPr bwMode="auto">
          <a:xfrm>
            <a:off x="4080987" y="3165000"/>
            <a:ext cx="2256249" cy="366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1700" b="1" dirty="0">
                <a:solidFill>
                  <a:srgbClr val="FF6B02"/>
                </a:solidFill>
                <a:ea typeface="Gramatika"/>
                <a:cs typeface="Arial"/>
              </a:rPr>
              <a:t>ИИ «персона курса»</a:t>
            </a:r>
            <a:endParaRPr sz="1700" dirty="0">
              <a:solidFill>
                <a:srgbClr val="FF6B02"/>
              </a:solidFill>
              <a:ea typeface="Gramatika"/>
            </a:endParaRPr>
          </a:p>
        </p:txBody>
      </p:sp>
      <p:sp>
        <p:nvSpPr>
          <p:cNvPr id="144670912" name="Заголовок 1"/>
          <p:cNvSpPr txBox="1"/>
          <p:nvPr/>
        </p:nvSpPr>
        <p:spPr bwMode="auto">
          <a:xfrm>
            <a:off x="4068903" y="5184818"/>
            <a:ext cx="1481061" cy="366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1700" b="1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Медиатор</a:t>
            </a:r>
            <a:r>
              <a:rPr lang="ru-RU" sz="1700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 </a:t>
            </a:r>
            <a:endParaRPr sz="1700">
              <a:solidFill>
                <a:srgbClr val="FF6B02"/>
              </a:solidFill>
              <a:latin typeface="Calibri"/>
              <a:ea typeface="Gramatika"/>
            </a:endParaRPr>
          </a:p>
        </p:txBody>
      </p:sp>
      <p:sp>
        <p:nvSpPr>
          <p:cNvPr id="1293922500" name="Заголовок 1"/>
          <p:cNvSpPr txBox="1"/>
          <p:nvPr/>
        </p:nvSpPr>
        <p:spPr bwMode="auto">
          <a:xfrm>
            <a:off x="10524147" y="2894002"/>
            <a:ext cx="1860247" cy="7213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Дата-инженеры, преподаватели, методисты </a:t>
            </a:r>
            <a:endParaRPr sz="1700">
              <a:latin typeface="Calibri"/>
              <a:ea typeface="Gramatika"/>
            </a:endParaRPr>
          </a:p>
          <a:p>
            <a:pPr algn="l"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 </a:t>
            </a:r>
            <a:endParaRPr sz="1700">
              <a:latin typeface="Calibri"/>
              <a:ea typeface="Gramatika"/>
            </a:endParaRPr>
          </a:p>
        </p:txBody>
      </p:sp>
      <p:sp>
        <p:nvSpPr>
          <p:cNvPr id="573532589" name="TextBox 22"/>
          <p:cNvSpPr txBox="1"/>
          <p:nvPr/>
        </p:nvSpPr>
        <p:spPr bwMode="auto">
          <a:xfrm>
            <a:off x="6349319" y="5228440"/>
            <a:ext cx="37989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600" dirty="0">
                <a:latin typeface="Calibri"/>
                <a:cs typeface="Calibri"/>
              </a:rPr>
              <a:t>Педагогические технологии (устройство курса, в том числе механизм использования ИИ для достижения образовательных результатов)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02474104" name="Заголовок 1"/>
          <p:cNvSpPr txBox="1"/>
          <p:nvPr/>
        </p:nvSpPr>
        <p:spPr bwMode="auto">
          <a:xfrm>
            <a:off x="10524147" y="5442003"/>
            <a:ext cx="1761289" cy="4898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Методисты,</a:t>
            </a:r>
            <a:endParaRPr lang="ru-RU" sz="1700">
              <a:latin typeface="Calibri"/>
              <a:ea typeface="Gramatika"/>
            </a:endParaRPr>
          </a:p>
          <a:p>
            <a:pPr algn="l"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преподаватели</a:t>
            </a:r>
            <a:endParaRPr sz="1700">
              <a:latin typeface="Calibri"/>
              <a:ea typeface="Gramatika"/>
            </a:endParaRPr>
          </a:p>
          <a:p>
            <a:pPr algn="l"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 </a:t>
            </a:r>
            <a:endParaRPr sz="1700">
              <a:latin typeface="Calibri"/>
              <a:ea typeface="Gramatika"/>
            </a:endParaRPr>
          </a:p>
        </p:txBody>
      </p:sp>
      <p:sp>
        <p:nvSpPr>
          <p:cNvPr id="209418635" name="Заголовок 1"/>
          <p:cNvSpPr txBox="1"/>
          <p:nvPr/>
        </p:nvSpPr>
        <p:spPr bwMode="auto">
          <a:xfrm>
            <a:off x="3990703" y="2577487"/>
            <a:ext cx="2626324" cy="573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2000" b="1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 </a:t>
            </a:r>
            <a:endParaRPr sz="2000">
              <a:solidFill>
                <a:srgbClr val="FF6B02"/>
              </a:solidFill>
              <a:latin typeface="Calibri"/>
              <a:ea typeface="Gramatika"/>
            </a:endParaRPr>
          </a:p>
        </p:txBody>
      </p:sp>
      <p:sp>
        <p:nvSpPr>
          <p:cNvPr id="1719523639" name="Заголовок 1"/>
          <p:cNvSpPr txBox="1"/>
          <p:nvPr/>
        </p:nvSpPr>
        <p:spPr bwMode="auto">
          <a:xfrm>
            <a:off x="10524147" y="2005987"/>
            <a:ext cx="2204172" cy="4898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2000" b="1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Разработчики</a:t>
            </a:r>
            <a:endParaRPr sz="2000">
              <a:solidFill>
                <a:srgbClr val="FF6B02"/>
              </a:solidFill>
              <a:latin typeface="Calibri"/>
              <a:ea typeface="Gramatika"/>
            </a:endParaRPr>
          </a:p>
        </p:txBody>
      </p:sp>
      <p:sp>
        <p:nvSpPr>
          <p:cNvPr id="1103355021" name="Заголовок 1"/>
          <p:cNvSpPr txBox="1"/>
          <p:nvPr/>
        </p:nvSpPr>
        <p:spPr bwMode="auto">
          <a:xfrm>
            <a:off x="6325153" y="1964322"/>
            <a:ext cx="3188056" cy="573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2000" b="1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Объекты разработки </a:t>
            </a:r>
            <a:endParaRPr sz="2000">
              <a:solidFill>
                <a:srgbClr val="FF6B02"/>
              </a:solidFill>
              <a:latin typeface="Calibri"/>
              <a:ea typeface="Gramatika"/>
            </a:endParaRPr>
          </a:p>
        </p:txBody>
      </p:sp>
      <p:sp>
        <p:nvSpPr>
          <p:cNvPr id="559370401" name="Заголовок 1"/>
          <p:cNvSpPr txBox="1"/>
          <p:nvPr/>
        </p:nvSpPr>
        <p:spPr bwMode="auto">
          <a:xfrm>
            <a:off x="3726523" y="1964322"/>
            <a:ext cx="2705920" cy="573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2000" b="1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Новое функциональное распределение </a:t>
            </a:r>
            <a:endParaRPr sz="2000">
              <a:solidFill>
                <a:srgbClr val="FF6B02"/>
              </a:solidFill>
              <a:latin typeface="Calibri"/>
              <a:ea typeface="Gramatika"/>
            </a:endParaRPr>
          </a:p>
        </p:txBody>
      </p:sp>
      <p:sp>
        <p:nvSpPr>
          <p:cNvPr id="758387532" name="Заголовок 1"/>
          <p:cNvSpPr txBox="1"/>
          <p:nvPr/>
        </p:nvSpPr>
        <p:spPr bwMode="auto">
          <a:xfrm>
            <a:off x="178190" y="4271076"/>
            <a:ext cx="3840032" cy="17671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spcBef>
                <a:spcPts val="1199"/>
              </a:spcBef>
              <a:spcAft>
                <a:spcPts val="599"/>
              </a:spcAft>
              <a:defRPr/>
            </a:pPr>
            <a:r>
              <a:rPr lang="ru-RU" sz="1700" dirty="0">
                <a:latin typeface="Calibri"/>
                <a:ea typeface="Gramatika"/>
                <a:cs typeface="Arial"/>
              </a:rPr>
              <a:t>Организатор деятельности </a:t>
            </a:r>
            <a:endParaRPr sz="1700" dirty="0">
              <a:latin typeface="Calibri"/>
              <a:ea typeface="Gramatika"/>
            </a:endParaRPr>
          </a:p>
          <a:p>
            <a:pPr algn="l">
              <a:lnSpc>
                <a:spcPct val="100000"/>
              </a:lnSpc>
              <a:spcBef>
                <a:spcPts val="599"/>
              </a:spcBef>
              <a:defRPr/>
            </a:pPr>
            <a:r>
              <a:rPr lang="ru-RU" sz="1700" dirty="0">
                <a:latin typeface="Calibri"/>
                <a:ea typeface="Gramatika"/>
                <a:cs typeface="Arial"/>
              </a:rPr>
              <a:t>Настройщик межличностного </a:t>
            </a:r>
            <a:br>
              <a:rPr lang="ru-RU" sz="1700" dirty="0">
                <a:latin typeface="Calibri"/>
                <a:ea typeface="Gramatika"/>
                <a:cs typeface="Arial"/>
              </a:rPr>
            </a:br>
            <a:r>
              <a:rPr lang="ru-RU" sz="1700" dirty="0">
                <a:latin typeface="Calibri"/>
                <a:ea typeface="Gramatika"/>
                <a:cs typeface="Arial"/>
              </a:rPr>
              <a:t>опыта</a:t>
            </a:r>
            <a:endParaRPr sz="1700" dirty="0">
              <a:latin typeface="Calibri"/>
              <a:ea typeface="Gramatika"/>
            </a:endParaRPr>
          </a:p>
          <a:p>
            <a:pPr algn="l">
              <a:lnSpc>
                <a:spcPct val="150000"/>
              </a:lnSpc>
              <a:spcBef>
                <a:spcPts val="1199"/>
              </a:spcBef>
              <a:spcAft>
                <a:spcPts val="599"/>
              </a:spcAft>
              <a:defRPr/>
            </a:pPr>
            <a:r>
              <a:rPr lang="ru-RU" sz="1700" dirty="0">
                <a:latin typeface="Calibri"/>
                <a:ea typeface="Gramatika"/>
                <a:cs typeface="Arial"/>
              </a:rPr>
              <a:t>Хранитель мотивации</a:t>
            </a:r>
            <a:endParaRPr sz="1700" dirty="0">
              <a:latin typeface="Calibri"/>
              <a:ea typeface="Gramatika"/>
            </a:endParaRPr>
          </a:p>
        </p:txBody>
      </p:sp>
      <p:sp>
        <p:nvSpPr>
          <p:cNvPr id="337281564" name="Закрывающая фигурная скобка 50"/>
          <p:cNvSpPr/>
          <p:nvPr/>
        </p:nvSpPr>
        <p:spPr bwMode="auto">
          <a:xfrm>
            <a:off x="3742326" y="2915120"/>
            <a:ext cx="248376" cy="954445"/>
          </a:xfrm>
          <a:prstGeom prst="rightBrace">
            <a:avLst>
              <a:gd name="adj1" fmla="val 8333"/>
              <a:gd name="adj2" fmla="val 50000"/>
            </a:avLst>
          </a:prstGeom>
          <a:ln w="22225">
            <a:solidFill>
              <a:srgbClr val="FF6B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ru-RU" sz="1700"/>
          </a:p>
        </p:txBody>
      </p:sp>
      <p:sp>
        <p:nvSpPr>
          <p:cNvPr id="1187680026" name="Закрывающая фигурная скобка 52"/>
          <p:cNvSpPr/>
          <p:nvPr/>
        </p:nvSpPr>
        <p:spPr bwMode="auto">
          <a:xfrm>
            <a:off x="3726523" y="4245672"/>
            <a:ext cx="264178" cy="1965534"/>
          </a:xfrm>
          <a:prstGeom prst="rightBrace">
            <a:avLst>
              <a:gd name="adj1" fmla="val 8333"/>
              <a:gd name="adj2" fmla="val 50000"/>
            </a:avLst>
          </a:prstGeom>
          <a:ln w="22225">
            <a:solidFill>
              <a:srgbClr val="FF6B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ru-RU" sz="1700"/>
          </a:p>
        </p:txBody>
      </p:sp>
      <p:sp>
        <p:nvSpPr>
          <p:cNvPr id="211028968" name="Закрывающая фигурная скобка 54"/>
          <p:cNvSpPr/>
          <p:nvPr/>
        </p:nvSpPr>
        <p:spPr bwMode="auto">
          <a:xfrm>
            <a:off x="3472159" y="4792208"/>
            <a:ext cx="214168" cy="1418998"/>
          </a:xfrm>
          <a:prstGeom prst="rightBrace">
            <a:avLst>
              <a:gd name="adj1" fmla="val 8333"/>
              <a:gd name="adj2" fmla="val 50000"/>
            </a:avLst>
          </a:prstGeom>
          <a:ln w="22225">
            <a:solidFill>
              <a:srgbClr val="FF6B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ru-RU" sz="1700"/>
          </a:p>
        </p:txBody>
      </p:sp>
      <p:sp>
        <p:nvSpPr>
          <p:cNvPr id="1207997516" name="Заголовок 1"/>
          <p:cNvSpPr txBox="1"/>
          <p:nvPr/>
        </p:nvSpPr>
        <p:spPr bwMode="auto">
          <a:xfrm>
            <a:off x="4058251" y="5486520"/>
            <a:ext cx="1899679" cy="366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1700" b="1" dirty="0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Профессор</a:t>
            </a:r>
            <a:endParaRPr sz="1700" dirty="0">
              <a:solidFill>
                <a:srgbClr val="FF6B02"/>
              </a:solidFill>
              <a:latin typeface="Calibri"/>
              <a:ea typeface="Gramatika"/>
            </a:endParaRPr>
          </a:p>
        </p:txBody>
      </p:sp>
      <p:sp>
        <p:nvSpPr>
          <p:cNvPr id="538989478" name="Закрывающая фигурная скобка 9"/>
          <p:cNvSpPr/>
          <p:nvPr/>
        </p:nvSpPr>
        <p:spPr bwMode="auto">
          <a:xfrm>
            <a:off x="3467350" y="2915120"/>
            <a:ext cx="231651" cy="1767186"/>
          </a:xfrm>
          <a:prstGeom prst="rightBrace">
            <a:avLst>
              <a:gd name="adj1" fmla="val 8333"/>
              <a:gd name="adj2" fmla="val 50000"/>
            </a:avLst>
          </a:prstGeom>
          <a:ln w="22225">
            <a:solidFill>
              <a:srgbClr val="FF6B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ru-RU" sz="1700"/>
          </a:p>
        </p:txBody>
      </p:sp>
      <p:sp>
        <p:nvSpPr>
          <p:cNvPr id="914585137" name="TextBox 15"/>
          <p:cNvSpPr txBox="1"/>
          <p:nvPr/>
        </p:nvSpPr>
        <p:spPr bwMode="auto">
          <a:xfrm>
            <a:off x="6349319" y="2319338"/>
            <a:ext cx="4267264" cy="2774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Содержательно</a:t>
            </a:r>
            <a:r>
              <a:rPr lang="ru-RU" sz="16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 реконструкция экспертов в предметной области или исторически значимых личностей</a:t>
            </a:r>
            <a:endParaRPr lang="ru-RU" sz="1600" b="0" i="0" u="none" strike="noStrike" cap="none" spc="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Технически</a:t>
            </a:r>
            <a:r>
              <a:rPr lang="ru-RU" sz="16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 кастомизированный чат-бот на основе существующих БЯМ с векторной базой данных (экспертные материалы дисциплины), системой </a:t>
            </a:r>
            <a:r>
              <a:rPr lang="ru-RU" sz="1600" b="0" i="0" u="none" strike="noStrike" cap="none" spc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оркестрации</a:t>
            </a:r>
            <a:r>
              <a:rPr lang="ru-RU" sz="16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вызовов моделей со специально подобранными системными </a:t>
            </a:r>
            <a:r>
              <a:rPr lang="ru-RU" sz="1600" b="0" i="0" u="none" strike="noStrike" cap="none" spc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промптами</a:t>
            </a:r>
            <a:r>
              <a:rPr lang="ru-RU" sz="16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и набором сценариев, запускаемых при распознавании соответствующего намерения пользователя</a:t>
            </a:r>
            <a:endParaRPr lang="ru-RU" sz="1600" b="0" i="0" u="none" strike="noStrike" cap="none" spc="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" name="Google Shape;104;p3">
            <a:extLst>
              <a:ext uri="{FF2B5EF4-FFF2-40B4-BE49-F238E27FC236}">
                <a16:creationId xmlns:a16="http://schemas.microsoft.com/office/drawing/2014/main" id="{E1ED35B5-6E0F-4349-4835-BA8719FAF85A}"/>
              </a:ext>
            </a:extLst>
          </p:cNvPr>
          <p:cNvSpPr txBox="1"/>
          <p:nvPr/>
        </p:nvSpPr>
        <p:spPr bwMode="auto">
          <a:xfrm>
            <a:off x="203200" y="254001"/>
            <a:ext cx="780042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u="none" strike="noStrike" cap="none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Подход к экспериментированию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3" name="Google Shape;105;p3">
            <a:extLst>
              <a:ext uri="{FF2B5EF4-FFF2-40B4-BE49-F238E27FC236}">
                <a16:creationId xmlns:a16="http://schemas.microsoft.com/office/drawing/2014/main" id="{81D78CEA-A331-8F1B-E1DD-970290AA8B5C}"/>
              </a:ext>
            </a:extLst>
          </p:cNvPr>
          <p:cNvCxnSpPr/>
          <p:nvPr/>
        </p:nvCxnSpPr>
        <p:spPr bwMode="auto"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4A64901-F364-4726-7A0D-F681F9821E2E}"/>
              </a:ext>
            </a:extLst>
          </p:cNvPr>
          <p:cNvSpPr/>
          <p:nvPr/>
        </p:nvSpPr>
        <p:spPr>
          <a:xfrm>
            <a:off x="3352800" y="1964322"/>
            <a:ext cx="8839200" cy="4563478"/>
          </a:xfrm>
          <a:prstGeom prst="rect">
            <a:avLst/>
          </a:prstGeom>
          <a:solidFill>
            <a:schemeClr val="bg1">
              <a:alpha val="89981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311462" y="1681837"/>
            <a:ext cx="5702845" cy="2212075"/>
            <a:chOff x="-1052988" y="-1623512"/>
            <a:chExt cx="11406433" cy="4424437"/>
          </a:xfrm>
        </p:grpSpPr>
        <p:sp>
          <p:nvSpPr>
            <p:cNvPr id="3" name="TextBox 3"/>
            <p:cNvSpPr txBox="1"/>
            <p:nvPr/>
          </p:nvSpPr>
          <p:spPr bwMode="auto">
            <a:xfrm>
              <a:off x="631550" y="-1623512"/>
              <a:ext cx="8037356" cy="6783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7"/>
                </a:lnSpc>
                <a:defRPr/>
              </a:pPr>
              <a:r>
                <a:rPr lang="ru-RU" sz="3200">
                  <a:latin typeface="Calibri" panose="020F0502020204030204" pitchFamily="34" charset="0"/>
                  <a:ea typeface="Roboto"/>
                  <a:cs typeface="Calibri" panose="020F0502020204030204" pitchFamily="34" charset="0"/>
                </a:rPr>
                <a:t>почему</a:t>
              </a:r>
              <a:endParaRPr lang="en-US" sz="3200">
                <a:latin typeface="Calibri" panose="020F0502020204030204" pitchFamily="34" charset="0"/>
                <a:ea typeface="Roboto"/>
                <a:cs typeface="Calibri" panose="020F050202020403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 bwMode="auto">
            <a:xfrm>
              <a:off x="-1052988" y="24343"/>
              <a:ext cx="11406433" cy="2776582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67"/>
                </a:lnSpc>
                <a:defRPr/>
              </a:pPr>
              <a:r>
                <a:rPr lang="ru-RU" sz="5500" b="1" dirty="0">
                  <a:latin typeface="Calibri" panose="020F0502020204030204" pitchFamily="34" charset="0"/>
                  <a:ea typeface="Roboto"/>
                  <a:cs typeface="Calibri" panose="020F0502020204030204" pitchFamily="34" charset="0"/>
                </a:rPr>
                <a:t>организатор деятельности</a:t>
              </a:r>
              <a:endParaRPr lang="en-US" sz="5500" b="1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endParaRPr>
            </a:p>
          </p:txBody>
        </p:sp>
      </p:grpSp>
      <p:sp>
        <p:nvSpPr>
          <p:cNvPr id="5" name="AutoShape 5"/>
          <p:cNvSpPr/>
          <p:nvPr/>
        </p:nvSpPr>
        <p:spPr bwMode="auto">
          <a:xfrm>
            <a:off x="6096001" y="2482"/>
            <a:ext cx="6485045" cy="7670301"/>
          </a:xfrm>
          <a:prstGeom prst="rect">
            <a:avLst/>
          </a:prstGeom>
          <a:solidFill>
            <a:srgbClr val="FF6B02"/>
          </a:solidFill>
          <a:ln>
            <a:solidFill>
              <a:srgbClr val="FF6B02"/>
            </a:solidFill>
          </a:ln>
        </p:spPr>
        <p:txBody>
          <a:bodyPr/>
          <a:lstStyle/>
          <a:p>
            <a:pPr>
              <a:defRPr/>
            </a:pPr>
            <a:endParaRPr lang="ru-RU" sz="3600"/>
          </a:p>
        </p:txBody>
      </p:sp>
      <p:sp>
        <p:nvSpPr>
          <p:cNvPr id="8" name="TextBox 8"/>
          <p:cNvSpPr txBox="1"/>
          <p:nvPr/>
        </p:nvSpPr>
        <p:spPr bwMode="auto">
          <a:xfrm>
            <a:off x="6354174" y="779420"/>
            <a:ext cx="5837428" cy="270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7"/>
              </a:lnSpc>
              <a:defRPr/>
            </a:pPr>
            <a:r>
              <a: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Знания, навыки, компетенции, мышление, мировоззрение, картину мира </a:t>
            </a:r>
            <a:r>
              <a:rPr lang="ru-RU" sz="3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нельзя передать</a:t>
            </a:r>
            <a:endParaRPr lang="en-US" sz="32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ts val="5367"/>
              </a:lnSpc>
              <a:defRPr/>
            </a:pPr>
            <a:endParaRPr lang="en-US" sz="32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9"/>
          <p:cNvSpPr/>
          <p:nvPr/>
        </p:nvSpPr>
        <p:spPr bwMode="auto">
          <a:xfrm>
            <a:off x="-755375" y="279607"/>
            <a:ext cx="13702751" cy="49424"/>
          </a:xfrm>
          <a:prstGeom prst="rect">
            <a:avLst/>
          </a:prstGeom>
          <a:solidFill>
            <a:srgbClr val="FF6B02"/>
          </a:solidFill>
          <a:ln>
            <a:solidFill>
              <a:srgbClr val="FF6B02"/>
            </a:solidFill>
          </a:ln>
        </p:spPr>
        <p:txBody>
          <a:bodyPr/>
          <a:lstStyle/>
          <a:p>
            <a:pPr>
              <a:defRPr/>
            </a:pPr>
            <a:endParaRPr lang="ru-RU" sz="3600"/>
          </a:p>
        </p:txBody>
      </p:sp>
      <p:sp>
        <p:nvSpPr>
          <p:cNvPr id="10" name="AutoShape 10"/>
          <p:cNvSpPr/>
          <p:nvPr/>
        </p:nvSpPr>
        <p:spPr bwMode="auto">
          <a:xfrm>
            <a:off x="-755375" y="6528972"/>
            <a:ext cx="13702751" cy="49424"/>
          </a:xfrm>
          <a:prstGeom prst="rect">
            <a:avLst/>
          </a:prstGeom>
          <a:solidFill>
            <a:srgbClr val="FF6B02"/>
          </a:solidFill>
          <a:ln>
            <a:solidFill>
              <a:srgbClr val="FF6B02"/>
            </a:solidFill>
          </a:ln>
        </p:spPr>
        <p:txBody>
          <a:bodyPr/>
          <a:lstStyle/>
          <a:p>
            <a:pPr>
              <a:defRPr/>
            </a:pPr>
            <a:endParaRPr lang="ru-RU" sz="3600"/>
          </a:p>
        </p:txBody>
      </p:sp>
      <p:sp>
        <p:nvSpPr>
          <p:cNvPr id="11" name="AutoShape 10"/>
          <p:cNvSpPr/>
          <p:nvPr/>
        </p:nvSpPr>
        <p:spPr bwMode="auto">
          <a:xfrm>
            <a:off x="6096001" y="6528972"/>
            <a:ext cx="6512033" cy="49424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>
              <a:defRPr/>
            </a:pPr>
            <a:endParaRPr lang="ru-RU" sz="3600"/>
          </a:p>
        </p:txBody>
      </p:sp>
      <p:sp>
        <p:nvSpPr>
          <p:cNvPr id="12" name="AutoShape 10"/>
          <p:cNvSpPr/>
          <p:nvPr/>
        </p:nvSpPr>
        <p:spPr bwMode="auto">
          <a:xfrm>
            <a:off x="6096001" y="293223"/>
            <a:ext cx="6512033" cy="49424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>
              <a:defRPr/>
            </a:pPr>
            <a:endParaRPr lang="ru-RU" sz="3600"/>
          </a:p>
        </p:txBody>
      </p:sp>
      <p:sp>
        <p:nvSpPr>
          <p:cNvPr id="13" name="TextBox 8"/>
          <p:cNvSpPr txBox="1"/>
          <p:nvPr/>
        </p:nvSpPr>
        <p:spPr bwMode="auto">
          <a:xfrm>
            <a:off x="6780989" y="4436269"/>
            <a:ext cx="5142055" cy="2705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67"/>
              </a:lnSpc>
              <a:defRPr/>
            </a:pPr>
            <a:r>
              <a:rPr lang="ru-RU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только </a:t>
            </a:r>
            <a:r>
              <a:rPr lang="ru-RU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сформировать</a:t>
            </a:r>
            <a:r>
              <a:rPr lang="ru-RU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в деятельности</a:t>
            </a:r>
            <a:endParaRPr lang="en-US" sz="3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ts val="5367"/>
              </a:lnSpc>
              <a:defRPr/>
            </a:pPr>
            <a:endParaRPr lang="en-US" sz="3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7803606" y="6596183"/>
            <a:ext cx="34818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sz="11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Джон Дьюи, Даниил Эльконин, Василий Давыдов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311462" y="1681836"/>
            <a:ext cx="5702845" cy="2904572"/>
            <a:chOff x="-1052988" y="-1623512"/>
            <a:chExt cx="11406433" cy="5809521"/>
          </a:xfrm>
        </p:grpSpPr>
        <p:sp>
          <p:nvSpPr>
            <p:cNvPr id="3" name="TextBox 3"/>
            <p:cNvSpPr txBox="1"/>
            <p:nvPr/>
          </p:nvSpPr>
          <p:spPr bwMode="auto">
            <a:xfrm>
              <a:off x="631550" y="-1623512"/>
              <a:ext cx="8037356" cy="6783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7"/>
                </a:lnSpc>
                <a:defRPr/>
              </a:pPr>
              <a:r>
                <a:rPr lang="ru-RU" sz="3200">
                  <a:latin typeface="Calibri" panose="020F0502020204030204" pitchFamily="34" charset="0"/>
                  <a:ea typeface="Roboto"/>
                  <a:cs typeface="Calibri" panose="020F0502020204030204" pitchFamily="34" charset="0"/>
                </a:rPr>
                <a:t>почему</a:t>
              </a:r>
              <a:endParaRPr lang="en-US" sz="3200">
                <a:latin typeface="Calibri" panose="020F0502020204030204" pitchFamily="34" charset="0"/>
                <a:ea typeface="Roboto"/>
                <a:cs typeface="Calibri" panose="020F050202020403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 bwMode="auto">
            <a:xfrm>
              <a:off x="-1052988" y="24343"/>
              <a:ext cx="11406433" cy="4161666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67"/>
                </a:lnSpc>
                <a:defRPr/>
              </a:pPr>
              <a:r>
                <a:rPr lang="ru-RU" sz="5500" b="1" dirty="0">
                  <a:latin typeface="Calibri" panose="020F0502020204030204" pitchFamily="34" charset="0"/>
                  <a:ea typeface="Roboto"/>
                  <a:cs typeface="Calibri" panose="020F0502020204030204" pitchFamily="34" charset="0"/>
                </a:rPr>
                <a:t>настройщик межличностного опыта</a:t>
              </a:r>
              <a:endParaRPr lang="en-US" sz="5500" b="1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endParaRPr>
            </a:p>
          </p:txBody>
        </p:sp>
      </p:grpSp>
      <p:sp>
        <p:nvSpPr>
          <p:cNvPr id="5" name="AutoShape 5"/>
          <p:cNvSpPr/>
          <p:nvPr/>
        </p:nvSpPr>
        <p:spPr bwMode="auto">
          <a:xfrm>
            <a:off x="6096001" y="-7042"/>
            <a:ext cx="6485045" cy="7670301"/>
          </a:xfrm>
          <a:prstGeom prst="rect">
            <a:avLst/>
          </a:prstGeom>
          <a:solidFill>
            <a:srgbClr val="FF6B02"/>
          </a:solidFill>
          <a:ln>
            <a:solidFill>
              <a:srgbClr val="FF6B02"/>
            </a:solidFill>
          </a:ln>
        </p:spPr>
        <p:txBody>
          <a:bodyPr/>
          <a:lstStyle/>
          <a:p>
            <a:pPr>
              <a:defRPr/>
            </a:pPr>
            <a:endParaRPr lang="ru-RU" sz="3600"/>
          </a:p>
        </p:txBody>
      </p:sp>
      <p:sp>
        <p:nvSpPr>
          <p:cNvPr id="8" name="TextBox 8"/>
          <p:cNvSpPr txBox="1"/>
          <p:nvPr/>
        </p:nvSpPr>
        <p:spPr bwMode="auto">
          <a:xfrm>
            <a:off x="6354174" y="1681836"/>
            <a:ext cx="5837428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/>
            </a:pPr>
            <a:r>
              <a:rPr lang="ru-RU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Для образования и обучения человеку необходим контакт </a:t>
            </a:r>
            <a:endParaRPr lang="ru-RU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9"/>
          <p:cNvSpPr/>
          <p:nvPr/>
        </p:nvSpPr>
        <p:spPr bwMode="auto">
          <a:xfrm>
            <a:off x="-755375" y="279607"/>
            <a:ext cx="13702751" cy="49424"/>
          </a:xfrm>
          <a:prstGeom prst="rect">
            <a:avLst/>
          </a:prstGeom>
          <a:solidFill>
            <a:srgbClr val="FF6B02"/>
          </a:solidFill>
          <a:ln>
            <a:solidFill>
              <a:srgbClr val="FF6B02"/>
            </a:solidFill>
          </a:ln>
        </p:spPr>
        <p:txBody>
          <a:bodyPr/>
          <a:lstStyle/>
          <a:p>
            <a:pPr>
              <a:defRPr/>
            </a:pPr>
            <a:endParaRPr lang="ru-RU" sz="3600"/>
          </a:p>
        </p:txBody>
      </p:sp>
      <p:sp>
        <p:nvSpPr>
          <p:cNvPr id="10" name="AutoShape 10"/>
          <p:cNvSpPr/>
          <p:nvPr/>
        </p:nvSpPr>
        <p:spPr bwMode="auto">
          <a:xfrm>
            <a:off x="-755375" y="6528972"/>
            <a:ext cx="13702751" cy="49424"/>
          </a:xfrm>
          <a:prstGeom prst="rect">
            <a:avLst/>
          </a:prstGeom>
          <a:solidFill>
            <a:srgbClr val="FF6B02"/>
          </a:solidFill>
          <a:ln>
            <a:solidFill>
              <a:srgbClr val="FF6B02"/>
            </a:solidFill>
          </a:ln>
        </p:spPr>
        <p:txBody>
          <a:bodyPr/>
          <a:lstStyle/>
          <a:p>
            <a:pPr>
              <a:defRPr/>
            </a:pPr>
            <a:endParaRPr lang="ru-RU" sz="3600"/>
          </a:p>
        </p:txBody>
      </p:sp>
      <p:sp>
        <p:nvSpPr>
          <p:cNvPr id="11" name="AutoShape 10"/>
          <p:cNvSpPr/>
          <p:nvPr/>
        </p:nvSpPr>
        <p:spPr bwMode="auto">
          <a:xfrm>
            <a:off x="6096001" y="6528972"/>
            <a:ext cx="6512033" cy="49424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>
              <a:defRPr/>
            </a:pPr>
            <a:endParaRPr lang="ru-RU" sz="3600"/>
          </a:p>
        </p:txBody>
      </p:sp>
      <p:sp>
        <p:nvSpPr>
          <p:cNvPr id="12" name="AutoShape 10"/>
          <p:cNvSpPr/>
          <p:nvPr/>
        </p:nvSpPr>
        <p:spPr bwMode="auto">
          <a:xfrm>
            <a:off x="6096001" y="293223"/>
            <a:ext cx="6512033" cy="49424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>
              <a:defRPr/>
            </a:pPr>
            <a:endParaRPr lang="ru-RU" sz="3600"/>
          </a:p>
        </p:txBody>
      </p:sp>
      <p:sp>
        <p:nvSpPr>
          <p:cNvPr id="6" name="TextBox 8"/>
          <p:cNvSpPr txBox="1"/>
          <p:nvPr/>
        </p:nvSpPr>
        <p:spPr bwMode="auto">
          <a:xfrm>
            <a:off x="6433302" y="4387100"/>
            <a:ext cx="5837428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/>
            </a:pPr>
            <a:r>
              <a: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Миметическое желание влияет на образовательные результаты  </a:t>
            </a:r>
            <a:endParaRPr lang="ru-RU" sz="24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8441238" y="6561014"/>
            <a:ext cx="26756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Лев Выготский, </a:t>
            </a:r>
            <a:r>
              <a:rPr lang="en" sz="1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Vicky Gunn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311462" y="1681837"/>
            <a:ext cx="5702845" cy="2212075"/>
            <a:chOff x="-1052988" y="-1623512"/>
            <a:chExt cx="11406433" cy="4424437"/>
          </a:xfrm>
        </p:grpSpPr>
        <p:sp>
          <p:nvSpPr>
            <p:cNvPr id="3" name="TextBox 3"/>
            <p:cNvSpPr txBox="1"/>
            <p:nvPr/>
          </p:nvSpPr>
          <p:spPr bwMode="auto">
            <a:xfrm>
              <a:off x="631550" y="-1623512"/>
              <a:ext cx="8037356" cy="6783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7"/>
                </a:lnSpc>
                <a:defRPr/>
              </a:pPr>
              <a:r>
                <a:rPr lang="ru-RU" sz="3200">
                  <a:latin typeface="Calibri" panose="020F0502020204030204" pitchFamily="34" charset="0"/>
                  <a:ea typeface="Roboto"/>
                  <a:cs typeface="Calibri" panose="020F0502020204030204" pitchFamily="34" charset="0"/>
                </a:rPr>
                <a:t>почему</a:t>
              </a:r>
              <a:endParaRPr lang="en-US" sz="3200">
                <a:latin typeface="Calibri" panose="020F0502020204030204" pitchFamily="34" charset="0"/>
                <a:ea typeface="Roboto"/>
                <a:cs typeface="Calibri" panose="020F050202020403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 bwMode="auto">
            <a:xfrm>
              <a:off x="-1052988" y="24343"/>
              <a:ext cx="11406433" cy="2776582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67"/>
                </a:lnSpc>
                <a:defRPr/>
              </a:pPr>
              <a:r>
                <a:rPr lang="ru-RU" sz="5500" b="1" dirty="0">
                  <a:latin typeface="Calibri" panose="020F0502020204030204" pitchFamily="34" charset="0"/>
                  <a:ea typeface="Roboto"/>
                  <a:cs typeface="Calibri" panose="020F0502020204030204" pitchFamily="34" charset="0"/>
                </a:rPr>
                <a:t>хранитель </a:t>
              </a:r>
              <a:endParaRPr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>
                <a:lnSpc>
                  <a:spcPts val="5367"/>
                </a:lnSpc>
                <a:defRPr/>
              </a:pPr>
              <a:r>
                <a:rPr lang="ru-RU" sz="5500" b="1" dirty="0">
                  <a:latin typeface="Calibri" panose="020F0502020204030204" pitchFamily="34" charset="0"/>
                  <a:ea typeface="Roboto"/>
                  <a:cs typeface="Calibri" panose="020F0502020204030204" pitchFamily="34" charset="0"/>
                </a:rPr>
                <a:t>мотивации</a:t>
              </a:r>
              <a:endParaRPr lang="en-US" sz="5500" b="1" dirty="0">
                <a:latin typeface="Calibri" panose="020F0502020204030204" pitchFamily="34" charset="0"/>
                <a:ea typeface="Roboto"/>
                <a:cs typeface="Calibri" panose="020F0502020204030204" pitchFamily="34" charset="0"/>
              </a:endParaRPr>
            </a:p>
          </p:txBody>
        </p:sp>
      </p:grpSp>
      <p:sp>
        <p:nvSpPr>
          <p:cNvPr id="5" name="AutoShape 5"/>
          <p:cNvSpPr/>
          <p:nvPr/>
        </p:nvSpPr>
        <p:spPr bwMode="auto">
          <a:xfrm>
            <a:off x="6096001" y="-7042"/>
            <a:ext cx="6485045" cy="7670301"/>
          </a:xfrm>
          <a:prstGeom prst="rect">
            <a:avLst/>
          </a:prstGeom>
          <a:solidFill>
            <a:srgbClr val="FF6B02"/>
          </a:solidFill>
          <a:ln>
            <a:solidFill>
              <a:srgbClr val="FF6B02"/>
            </a:solidFill>
          </a:ln>
        </p:spPr>
        <p:txBody>
          <a:bodyPr/>
          <a:lstStyle/>
          <a:p>
            <a:pPr>
              <a:defRPr/>
            </a:pPr>
            <a:endParaRPr lang="ru-RU" sz="3600"/>
          </a:p>
        </p:txBody>
      </p:sp>
      <p:sp>
        <p:nvSpPr>
          <p:cNvPr id="8" name="TextBox 8"/>
          <p:cNvSpPr txBox="1"/>
          <p:nvPr/>
        </p:nvSpPr>
        <p:spPr bwMode="auto">
          <a:xfrm>
            <a:off x="6354174" y="1681837"/>
            <a:ext cx="5837428" cy="196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/>
            </a:pPr>
            <a:r>
              <a: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Кроме проблем слабо мотивированных студентов и отсутствия образовательного запроса </a:t>
            </a:r>
            <a:endParaRPr lang="ru-RU" sz="24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9"/>
          <p:cNvSpPr/>
          <p:nvPr/>
        </p:nvSpPr>
        <p:spPr bwMode="auto">
          <a:xfrm>
            <a:off x="-755375" y="279607"/>
            <a:ext cx="13702751" cy="49424"/>
          </a:xfrm>
          <a:prstGeom prst="rect">
            <a:avLst/>
          </a:prstGeom>
          <a:solidFill>
            <a:srgbClr val="FF6B02"/>
          </a:solidFill>
          <a:ln>
            <a:solidFill>
              <a:srgbClr val="FF6B02"/>
            </a:solidFill>
          </a:ln>
        </p:spPr>
        <p:txBody>
          <a:bodyPr/>
          <a:lstStyle/>
          <a:p>
            <a:pPr>
              <a:defRPr/>
            </a:pPr>
            <a:endParaRPr lang="ru-RU" sz="3600"/>
          </a:p>
        </p:txBody>
      </p:sp>
      <p:sp>
        <p:nvSpPr>
          <p:cNvPr id="10" name="AutoShape 10"/>
          <p:cNvSpPr/>
          <p:nvPr/>
        </p:nvSpPr>
        <p:spPr bwMode="auto">
          <a:xfrm>
            <a:off x="-755375" y="6528972"/>
            <a:ext cx="13702751" cy="49424"/>
          </a:xfrm>
          <a:prstGeom prst="rect">
            <a:avLst/>
          </a:prstGeom>
          <a:solidFill>
            <a:srgbClr val="FF6B02"/>
          </a:solidFill>
          <a:ln>
            <a:solidFill>
              <a:srgbClr val="FF6B02"/>
            </a:solidFill>
          </a:ln>
        </p:spPr>
        <p:txBody>
          <a:bodyPr/>
          <a:lstStyle/>
          <a:p>
            <a:pPr>
              <a:defRPr/>
            </a:pPr>
            <a:endParaRPr lang="ru-RU" sz="3600"/>
          </a:p>
        </p:txBody>
      </p:sp>
      <p:sp>
        <p:nvSpPr>
          <p:cNvPr id="11" name="AutoShape 10"/>
          <p:cNvSpPr/>
          <p:nvPr/>
        </p:nvSpPr>
        <p:spPr bwMode="auto">
          <a:xfrm>
            <a:off x="6096001" y="6528972"/>
            <a:ext cx="6512033" cy="49424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>
              <a:defRPr/>
            </a:pPr>
            <a:endParaRPr lang="ru-RU" sz="3600"/>
          </a:p>
        </p:txBody>
      </p:sp>
      <p:sp>
        <p:nvSpPr>
          <p:cNvPr id="12" name="AutoShape 10"/>
          <p:cNvSpPr/>
          <p:nvPr/>
        </p:nvSpPr>
        <p:spPr bwMode="auto">
          <a:xfrm>
            <a:off x="6096001" y="293223"/>
            <a:ext cx="6512033" cy="49424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>
              <a:defRPr/>
            </a:pPr>
            <a:endParaRPr lang="ru-RU" sz="3600"/>
          </a:p>
        </p:txBody>
      </p:sp>
      <p:sp>
        <p:nvSpPr>
          <p:cNvPr id="6" name="TextBox 8"/>
          <p:cNvSpPr txBox="1"/>
          <p:nvPr/>
        </p:nvSpPr>
        <p:spPr bwMode="auto">
          <a:xfrm>
            <a:off x="6433302" y="4387100"/>
            <a:ext cx="5837428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/>
            </a:pPr>
            <a:r>
              <a: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мы сталкиваемся с закономерным падением мотивации в ходе программы</a:t>
            </a:r>
            <a:endParaRPr lang="ru-RU" sz="24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8441238" y="6549291"/>
            <a:ext cx="26756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sz="1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Кен Бланшар, Пол </a:t>
            </a:r>
            <a:r>
              <a:rPr lang="ru-RU" sz="11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Херси</a:t>
            </a:r>
            <a:endParaRPr lang="ru-RU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 bwMode="auto">
          <a:xfrm>
            <a:off x="213070" y="116330"/>
            <a:ext cx="1308910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sz="3600" b="1" dirty="0">
                <a:solidFill>
                  <a:schemeClr val="dk1"/>
                </a:solidFill>
                <a:latin typeface="+mn-lt"/>
              </a:rPr>
              <a:t>Закономерная динамика уровня</a:t>
            </a:r>
            <a:endParaRPr sz="3600" b="1" dirty="0">
              <a:solidFill>
                <a:schemeClr val="dk1"/>
              </a:solidFill>
              <a:latin typeface="+mn-lt"/>
            </a:endParaRPr>
          </a:p>
        </p:txBody>
      </p:sp>
      <p:grpSp>
        <p:nvGrpSpPr>
          <p:cNvPr id="15" name="Группа 14"/>
          <p:cNvGrpSpPr/>
          <p:nvPr/>
        </p:nvGrpSpPr>
        <p:grpSpPr bwMode="auto">
          <a:xfrm>
            <a:off x="807304" y="634591"/>
            <a:ext cx="8655793" cy="6147639"/>
            <a:chOff x="1822959" y="232229"/>
            <a:chExt cx="8656356" cy="6148038"/>
          </a:xfrm>
        </p:grpSpPr>
        <p:cxnSp>
          <p:nvCxnSpPr>
            <p:cNvPr id="3" name="Прямая со стрелкой 2"/>
            <p:cNvCxnSpPr>
              <a:cxnSpLocks/>
            </p:cNvCxnSpPr>
            <p:nvPr/>
          </p:nvCxnSpPr>
          <p:spPr bwMode="auto">
            <a:xfrm flipV="1">
              <a:off x="2409370" y="899886"/>
              <a:ext cx="0" cy="49493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Прямая со стрелкой 3"/>
            <p:cNvCxnSpPr>
              <a:cxnSpLocks/>
            </p:cNvCxnSpPr>
            <p:nvPr/>
          </p:nvCxnSpPr>
          <p:spPr bwMode="auto">
            <a:xfrm>
              <a:off x="2409370" y="5849257"/>
              <a:ext cx="69087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3"/>
            <p:cNvSpPr txBox="1"/>
            <p:nvPr/>
          </p:nvSpPr>
          <p:spPr bwMode="auto">
            <a:xfrm>
              <a:off x="7429529" y="6072471"/>
              <a:ext cx="3049786" cy="30779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437"/>
                </a:lnSpc>
                <a:defRPr/>
              </a:pPr>
              <a:r>
                <a:rPr lang="ru-RU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компетентность </a:t>
              </a:r>
              <a:endPara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Box 3"/>
            <p:cNvSpPr txBox="1"/>
            <p:nvPr/>
          </p:nvSpPr>
          <p:spPr bwMode="auto">
            <a:xfrm rot="16199999">
              <a:off x="901907" y="1153281"/>
              <a:ext cx="2149901" cy="307797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437"/>
                </a:lnSpc>
                <a:defRPr/>
              </a:pPr>
              <a:r>
                <a:rPr lang="ru-RU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мотивация  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Полилиния 10"/>
            <p:cNvSpPr/>
            <p:nvPr/>
          </p:nvSpPr>
          <p:spPr bwMode="auto">
            <a:xfrm>
              <a:off x="2510079" y="1536313"/>
              <a:ext cx="6444343" cy="4201338"/>
            </a:xfrm>
            <a:custGeom>
              <a:avLst/>
              <a:gdLst>
                <a:gd name="connsiteX0" fmla="*/ 0 w 6444343"/>
                <a:gd name="connsiteY0" fmla="*/ 29265 h 4201338"/>
                <a:gd name="connsiteX1" fmla="*/ 566057 w 6444343"/>
                <a:gd name="connsiteY1" fmla="*/ 58293 h 4201338"/>
                <a:gd name="connsiteX2" fmla="*/ 566057 w 6444343"/>
                <a:gd name="connsiteY2" fmla="*/ 58293 h 4201338"/>
                <a:gd name="connsiteX3" fmla="*/ 1204686 w 6444343"/>
                <a:gd name="connsiteY3" fmla="*/ 3991665 h 4201338"/>
                <a:gd name="connsiteX4" fmla="*/ 2685143 w 6444343"/>
                <a:gd name="connsiteY4" fmla="*/ 3599779 h 4201338"/>
                <a:gd name="connsiteX5" fmla="*/ 2627086 w 6444343"/>
                <a:gd name="connsiteY5" fmla="*/ 3062750 h 4201338"/>
                <a:gd name="connsiteX6" fmla="*/ 3222172 w 6444343"/>
                <a:gd name="connsiteY6" fmla="*/ 3091779 h 4201338"/>
                <a:gd name="connsiteX7" fmla="*/ 3556000 w 6444343"/>
                <a:gd name="connsiteY7" fmla="*/ 3498179 h 4201338"/>
                <a:gd name="connsiteX8" fmla="*/ 4020457 w 6444343"/>
                <a:gd name="connsiteY8" fmla="*/ 3222408 h 4201338"/>
                <a:gd name="connsiteX9" fmla="*/ 3512457 w 6444343"/>
                <a:gd name="connsiteY9" fmla="*/ 2772465 h 4201338"/>
                <a:gd name="connsiteX10" fmla="*/ 3657600 w 6444343"/>
                <a:gd name="connsiteY10" fmla="*/ 2438636 h 4201338"/>
                <a:gd name="connsiteX11" fmla="*/ 4093029 w 6444343"/>
                <a:gd name="connsiteY11" fmla="*/ 2569265 h 4201338"/>
                <a:gd name="connsiteX12" fmla="*/ 4310743 w 6444343"/>
                <a:gd name="connsiteY12" fmla="*/ 2322522 h 4201338"/>
                <a:gd name="connsiteX13" fmla="*/ 4339772 w 6444343"/>
                <a:gd name="connsiteY13" fmla="*/ 2206408 h 4201338"/>
                <a:gd name="connsiteX14" fmla="*/ 4426857 w 6444343"/>
                <a:gd name="connsiteY14" fmla="*/ 2932122 h 4201338"/>
                <a:gd name="connsiteX15" fmla="*/ 4615543 w 6444343"/>
                <a:gd name="connsiteY15" fmla="*/ 2903093 h 4201338"/>
                <a:gd name="connsiteX16" fmla="*/ 4746172 w 6444343"/>
                <a:gd name="connsiteY16" fmla="*/ 2366065 h 4201338"/>
                <a:gd name="connsiteX17" fmla="*/ 4484914 w 6444343"/>
                <a:gd name="connsiteY17" fmla="*/ 1814522 h 4201338"/>
                <a:gd name="connsiteX18" fmla="*/ 4717143 w 6444343"/>
                <a:gd name="connsiteY18" fmla="*/ 1495208 h 4201338"/>
                <a:gd name="connsiteX19" fmla="*/ 5283200 w 6444343"/>
                <a:gd name="connsiteY19" fmla="*/ 1698408 h 4201338"/>
                <a:gd name="connsiteX20" fmla="*/ 5268686 w 6444343"/>
                <a:gd name="connsiteY20" fmla="*/ 1292008 h 4201338"/>
                <a:gd name="connsiteX21" fmla="*/ 5283200 w 6444343"/>
                <a:gd name="connsiteY21" fmla="*/ 754979 h 4201338"/>
                <a:gd name="connsiteX22" fmla="*/ 5297714 w 6444343"/>
                <a:gd name="connsiteY22" fmla="*/ 624350 h 4201338"/>
                <a:gd name="connsiteX23" fmla="*/ 5558972 w 6444343"/>
                <a:gd name="connsiteY23" fmla="*/ 464693 h 4201338"/>
                <a:gd name="connsiteX24" fmla="*/ 5805714 w 6444343"/>
                <a:gd name="connsiteY24" fmla="*/ 43779 h 4201338"/>
                <a:gd name="connsiteX25" fmla="*/ 6081486 w 6444343"/>
                <a:gd name="connsiteY25" fmla="*/ 29265 h 4201338"/>
                <a:gd name="connsiteX26" fmla="*/ 6328229 w 6444343"/>
                <a:gd name="connsiteY26" fmla="*/ 236 h 4201338"/>
                <a:gd name="connsiteX27" fmla="*/ 6444343 w 6444343"/>
                <a:gd name="connsiteY27" fmla="*/ 14750 h 4201338"/>
                <a:gd name="connsiteX28" fmla="*/ 6444343 w 6444343"/>
                <a:gd name="connsiteY28" fmla="*/ 14750 h 4201338"/>
                <a:gd name="connsiteX29" fmla="*/ 6444343 w 6444343"/>
                <a:gd name="connsiteY29" fmla="*/ 14750 h 4201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444343" h="4201338" extrusionOk="0">
                  <a:moveTo>
                    <a:pt x="0" y="29265"/>
                  </a:moveTo>
                  <a:lnTo>
                    <a:pt x="566057" y="58293"/>
                  </a:lnTo>
                  <a:lnTo>
                    <a:pt x="566057" y="58293"/>
                  </a:lnTo>
                  <a:cubicBezTo>
                    <a:pt x="672495" y="713855"/>
                    <a:pt x="851505" y="3401417"/>
                    <a:pt x="1204686" y="3991665"/>
                  </a:cubicBezTo>
                  <a:cubicBezTo>
                    <a:pt x="1557867" y="4581913"/>
                    <a:pt x="2448076" y="3754598"/>
                    <a:pt x="2685143" y="3599779"/>
                  </a:cubicBezTo>
                  <a:cubicBezTo>
                    <a:pt x="2922210" y="3444960"/>
                    <a:pt x="2537581" y="3147417"/>
                    <a:pt x="2627086" y="3062750"/>
                  </a:cubicBezTo>
                  <a:cubicBezTo>
                    <a:pt x="2716591" y="2978083"/>
                    <a:pt x="3067353" y="3019208"/>
                    <a:pt x="3222172" y="3091779"/>
                  </a:cubicBezTo>
                  <a:cubicBezTo>
                    <a:pt x="3376991" y="3164351"/>
                    <a:pt x="3422953" y="3476408"/>
                    <a:pt x="3556000" y="3498179"/>
                  </a:cubicBezTo>
                  <a:cubicBezTo>
                    <a:pt x="3689047" y="3519950"/>
                    <a:pt x="4027714" y="3343360"/>
                    <a:pt x="4020457" y="3222408"/>
                  </a:cubicBezTo>
                  <a:cubicBezTo>
                    <a:pt x="4013200" y="3101456"/>
                    <a:pt x="3572933" y="2903094"/>
                    <a:pt x="3512457" y="2772465"/>
                  </a:cubicBezTo>
                  <a:cubicBezTo>
                    <a:pt x="3451981" y="2641836"/>
                    <a:pt x="3560838" y="2472503"/>
                    <a:pt x="3657600" y="2438636"/>
                  </a:cubicBezTo>
                  <a:cubicBezTo>
                    <a:pt x="3754362" y="2404769"/>
                    <a:pt x="3984172" y="2588617"/>
                    <a:pt x="4093029" y="2569265"/>
                  </a:cubicBezTo>
                  <a:cubicBezTo>
                    <a:pt x="4201886" y="2549913"/>
                    <a:pt x="4269619" y="2382998"/>
                    <a:pt x="4310743" y="2322522"/>
                  </a:cubicBezTo>
                  <a:cubicBezTo>
                    <a:pt x="4351867" y="2262046"/>
                    <a:pt x="4320420" y="2104808"/>
                    <a:pt x="4339772" y="2206408"/>
                  </a:cubicBezTo>
                  <a:cubicBezTo>
                    <a:pt x="4359124" y="2308008"/>
                    <a:pt x="4380895" y="2816008"/>
                    <a:pt x="4426857" y="2932122"/>
                  </a:cubicBezTo>
                  <a:cubicBezTo>
                    <a:pt x="4472819" y="3048236"/>
                    <a:pt x="4562324" y="2997436"/>
                    <a:pt x="4615543" y="2903093"/>
                  </a:cubicBezTo>
                  <a:cubicBezTo>
                    <a:pt x="4668762" y="2808750"/>
                    <a:pt x="4767944" y="2547494"/>
                    <a:pt x="4746172" y="2366065"/>
                  </a:cubicBezTo>
                  <a:cubicBezTo>
                    <a:pt x="4724401" y="2184637"/>
                    <a:pt x="4489752" y="1959665"/>
                    <a:pt x="4484914" y="1814522"/>
                  </a:cubicBezTo>
                  <a:cubicBezTo>
                    <a:pt x="4480076" y="1669379"/>
                    <a:pt x="4584095" y="1514560"/>
                    <a:pt x="4717143" y="1495208"/>
                  </a:cubicBezTo>
                  <a:cubicBezTo>
                    <a:pt x="4850191" y="1475856"/>
                    <a:pt x="5191276" y="1732275"/>
                    <a:pt x="5283200" y="1698408"/>
                  </a:cubicBezTo>
                  <a:cubicBezTo>
                    <a:pt x="5375124" y="1664541"/>
                    <a:pt x="5268686" y="1449246"/>
                    <a:pt x="5268686" y="1292008"/>
                  </a:cubicBezTo>
                  <a:cubicBezTo>
                    <a:pt x="5268686" y="1134770"/>
                    <a:pt x="5278362" y="866255"/>
                    <a:pt x="5283200" y="754979"/>
                  </a:cubicBezTo>
                  <a:cubicBezTo>
                    <a:pt x="5288038" y="643703"/>
                    <a:pt x="5251752" y="672731"/>
                    <a:pt x="5297714" y="624350"/>
                  </a:cubicBezTo>
                  <a:cubicBezTo>
                    <a:pt x="5343676" y="575969"/>
                    <a:pt x="5474305" y="561455"/>
                    <a:pt x="5558972" y="464693"/>
                  </a:cubicBezTo>
                  <a:cubicBezTo>
                    <a:pt x="5643639" y="367931"/>
                    <a:pt x="5718628" y="116350"/>
                    <a:pt x="5805714" y="43779"/>
                  </a:cubicBezTo>
                  <a:cubicBezTo>
                    <a:pt x="5892800" y="-28792"/>
                    <a:pt x="5994400" y="36522"/>
                    <a:pt x="6081486" y="29265"/>
                  </a:cubicBezTo>
                  <a:cubicBezTo>
                    <a:pt x="6168572" y="22008"/>
                    <a:pt x="6267753" y="2655"/>
                    <a:pt x="6328229" y="236"/>
                  </a:cubicBezTo>
                  <a:cubicBezTo>
                    <a:pt x="6388705" y="-2183"/>
                    <a:pt x="6444343" y="14750"/>
                    <a:pt x="6444343" y="14750"/>
                  </a:cubicBezTo>
                  <a:lnTo>
                    <a:pt x="6444343" y="14750"/>
                  </a:lnTo>
                  <a:lnTo>
                    <a:pt x="6444343" y="14750"/>
                  </a:lnTo>
                </a:path>
              </a:pathLst>
            </a:cu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 sz="3600"/>
            </a:p>
          </p:txBody>
        </p:sp>
        <p:sp>
          <p:nvSpPr>
            <p:cNvPr id="14" name="Молния 13"/>
            <p:cNvSpPr/>
            <p:nvPr/>
          </p:nvSpPr>
          <p:spPr bwMode="auto">
            <a:xfrm rot="2916398">
              <a:off x="4034972" y="4556594"/>
              <a:ext cx="537029" cy="1045029"/>
            </a:xfrm>
            <a:prstGeom prst="lightningBol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 sz="3600"/>
            </a:p>
          </p:txBody>
        </p:sp>
      </p:grpSp>
      <p:cxnSp>
        <p:nvCxnSpPr>
          <p:cNvPr id="17" name="Прямая соединительная линия 16"/>
          <p:cNvCxnSpPr>
            <a:cxnSpLocks/>
          </p:cNvCxnSpPr>
          <p:nvPr/>
        </p:nvCxnSpPr>
        <p:spPr bwMode="auto">
          <a:xfrm>
            <a:off x="2308018" y="1048204"/>
            <a:ext cx="0" cy="494904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cxnSpLocks/>
          </p:cNvCxnSpPr>
          <p:nvPr/>
        </p:nvCxnSpPr>
        <p:spPr bwMode="auto">
          <a:xfrm>
            <a:off x="4056876" y="1048204"/>
            <a:ext cx="0" cy="494904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cxnSpLocks/>
          </p:cNvCxnSpPr>
          <p:nvPr/>
        </p:nvCxnSpPr>
        <p:spPr bwMode="auto">
          <a:xfrm>
            <a:off x="6923260" y="1048204"/>
            <a:ext cx="0" cy="494904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TextBox 3"/>
          <p:cNvSpPr txBox="1"/>
          <p:nvPr/>
        </p:nvSpPr>
        <p:spPr bwMode="auto">
          <a:xfrm>
            <a:off x="1768394" y="1220548"/>
            <a:ext cx="438923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37"/>
              </a:lnSpc>
              <a:defRPr/>
            </a:pPr>
            <a:r>
              <a:rPr lang="ru-RU" sz="2000">
                <a:solidFill>
                  <a:schemeClr val="tx1">
                    <a:lumMod val="75000"/>
                    <a:lumOff val="25000"/>
                  </a:schemeClr>
                </a:solidFill>
              </a:rPr>
              <a:t>1  </a:t>
            </a:r>
            <a:endParaRPr 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TextBox 3"/>
          <p:cNvSpPr txBox="1"/>
          <p:nvPr/>
        </p:nvSpPr>
        <p:spPr bwMode="auto">
          <a:xfrm>
            <a:off x="3094957" y="1220548"/>
            <a:ext cx="438923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37"/>
              </a:lnSpc>
              <a:defRPr/>
            </a:pPr>
            <a:r>
              <a:rPr lang="ru-RU" sz="2000">
                <a:solidFill>
                  <a:schemeClr val="tx1">
                    <a:lumMod val="75000"/>
                    <a:lumOff val="25000"/>
                  </a:schemeClr>
                </a:solidFill>
              </a:rPr>
              <a:t>2  </a:t>
            </a:r>
            <a:endParaRPr 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Box 3"/>
          <p:cNvSpPr txBox="1"/>
          <p:nvPr/>
        </p:nvSpPr>
        <p:spPr bwMode="auto">
          <a:xfrm>
            <a:off x="5366812" y="1215764"/>
            <a:ext cx="438923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37"/>
              </a:lnSpc>
              <a:defRPr/>
            </a:pPr>
            <a:r>
              <a:rPr lang="ru-RU" sz="2000">
                <a:solidFill>
                  <a:schemeClr val="tx1">
                    <a:lumMod val="75000"/>
                    <a:lumOff val="25000"/>
                  </a:schemeClr>
                </a:solidFill>
              </a:rPr>
              <a:t>3  </a:t>
            </a:r>
            <a:endParaRPr 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3"/>
          <p:cNvSpPr txBox="1"/>
          <p:nvPr/>
        </p:nvSpPr>
        <p:spPr bwMode="auto">
          <a:xfrm>
            <a:off x="7499380" y="1215765"/>
            <a:ext cx="438923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37"/>
              </a:lnSpc>
              <a:defRPr/>
            </a:pPr>
            <a:r>
              <a:rPr lang="ru-RU" sz="2000">
                <a:solidFill>
                  <a:schemeClr val="tx1">
                    <a:lumMod val="75000"/>
                    <a:lumOff val="25000"/>
                  </a:schemeClr>
                </a:solidFill>
              </a:rPr>
              <a:t>4  </a:t>
            </a:r>
            <a:endParaRPr 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CDFE61-1897-A116-A170-0A8CE83FF21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580024" name="Заголовок 1">
            <a:extLst>
              <a:ext uri="{FF2B5EF4-FFF2-40B4-BE49-F238E27FC236}">
                <a16:creationId xmlns:a16="http://schemas.microsoft.com/office/drawing/2014/main" id="{E7CDB352-2FED-2B6E-8E0C-E97B986E436D}"/>
              </a:ext>
            </a:extLst>
          </p:cNvPr>
          <p:cNvSpPr txBox="1"/>
          <p:nvPr/>
        </p:nvSpPr>
        <p:spPr bwMode="auto">
          <a:xfrm>
            <a:off x="150670" y="1994246"/>
            <a:ext cx="2984108" cy="573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2000" b="1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Функции преподавателя в аудитории</a:t>
            </a:r>
            <a:endParaRPr sz="2000">
              <a:solidFill>
                <a:srgbClr val="FF6B02"/>
              </a:solidFill>
              <a:latin typeface="Calibri"/>
              <a:ea typeface="Gramatika"/>
            </a:endParaRPr>
          </a:p>
        </p:txBody>
      </p:sp>
      <p:sp>
        <p:nvSpPr>
          <p:cNvPr id="1329781069" name="Заголовок 1">
            <a:extLst>
              <a:ext uri="{FF2B5EF4-FFF2-40B4-BE49-F238E27FC236}">
                <a16:creationId xmlns:a16="http://schemas.microsoft.com/office/drawing/2014/main" id="{B7ABE186-7182-AF35-648F-FBC74440BE7D}"/>
              </a:ext>
            </a:extLst>
          </p:cNvPr>
          <p:cNvSpPr txBox="1"/>
          <p:nvPr/>
        </p:nvSpPr>
        <p:spPr bwMode="auto">
          <a:xfrm>
            <a:off x="150670" y="2893835"/>
            <a:ext cx="3840032" cy="113508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spcBef>
                <a:spcPts val="1199"/>
              </a:spcBef>
              <a:spcAft>
                <a:spcPts val="599"/>
              </a:spcAft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Источник экспертизы</a:t>
            </a:r>
            <a:endParaRPr/>
          </a:p>
          <a:p>
            <a:pPr algn="l">
              <a:lnSpc>
                <a:spcPct val="150000"/>
              </a:lnSpc>
              <a:spcBef>
                <a:spcPts val="1199"/>
              </a:spcBef>
              <a:spcAft>
                <a:spcPts val="599"/>
              </a:spcAft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Картограф предметной области</a:t>
            </a:r>
            <a:endParaRPr sz="1700">
              <a:latin typeface="Calibri"/>
              <a:ea typeface="Gramatika"/>
            </a:endParaRPr>
          </a:p>
        </p:txBody>
      </p:sp>
      <p:sp>
        <p:nvSpPr>
          <p:cNvPr id="1135414231" name="TextBox 5">
            <a:extLst>
              <a:ext uri="{FF2B5EF4-FFF2-40B4-BE49-F238E27FC236}">
                <a16:creationId xmlns:a16="http://schemas.microsoft.com/office/drawing/2014/main" id="{69A8D878-05F0-B1BD-1C69-5EA53547EBBA}"/>
              </a:ext>
            </a:extLst>
          </p:cNvPr>
          <p:cNvSpPr txBox="1"/>
          <p:nvPr/>
        </p:nvSpPr>
        <p:spPr bwMode="auto">
          <a:xfrm>
            <a:off x="4080987" y="3165000"/>
            <a:ext cx="2256249" cy="366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1700" b="1" dirty="0">
                <a:solidFill>
                  <a:srgbClr val="FF6B02"/>
                </a:solidFill>
                <a:ea typeface="Gramatika"/>
                <a:cs typeface="Arial"/>
              </a:rPr>
              <a:t>ИИ «персона курса»</a:t>
            </a:r>
            <a:endParaRPr sz="1700" dirty="0">
              <a:solidFill>
                <a:srgbClr val="FF6B02"/>
              </a:solidFill>
              <a:ea typeface="Gramatika"/>
            </a:endParaRPr>
          </a:p>
        </p:txBody>
      </p:sp>
      <p:sp>
        <p:nvSpPr>
          <p:cNvPr id="144670912" name="Заголовок 1">
            <a:extLst>
              <a:ext uri="{FF2B5EF4-FFF2-40B4-BE49-F238E27FC236}">
                <a16:creationId xmlns:a16="http://schemas.microsoft.com/office/drawing/2014/main" id="{77BAE092-1514-F5F2-1072-FBF40DF1CBAE}"/>
              </a:ext>
            </a:extLst>
          </p:cNvPr>
          <p:cNvSpPr txBox="1"/>
          <p:nvPr/>
        </p:nvSpPr>
        <p:spPr bwMode="auto">
          <a:xfrm>
            <a:off x="4068903" y="5184818"/>
            <a:ext cx="1481061" cy="366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1700" b="1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Медиатор</a:t>
            </a:r>
            <a:r>
              <a:rPr lang="ru-RU" sz="1700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 </a:t>
            </a:r>
            <a:endParaRPr sz="1700">
              <a:solidFill>
                <a:srgbClr val="FF6B02"/>
              </a:solidFill>
              <a:latin typeface="Calibri"/>
              <a:ea typeface="Gramatika"/>
            </a:endParaRPr>
          </a:p>
        </p:txBody>
      </p:sp>
      <p:sp>
        <p:nvSpPr>
          <p:cNvPr id="1293922500" name="Заголовок 1">
            <a:extLst>
              <a:ext uri="{FF2B5EF4-FFF2-40B4-BE49-F238E27FC236}">
                <a16:creationId xmlns:a16="http://schemas.microsoft.com/office/drawing/2014/main" id="{430B045A-D3D5-022E-6D64-36F6E62107F8}"/>
              </a:ext>
            </a:extLst>
          </p:cNvPr>
          <p:cNvSpPr txBox="1"/>
          <p:nvPr/>
        </p:nvSpPr>
        <p:spPr bwMode="auto">
          <a:xfrm>
            <a:off x="10524147" y="2894002"/>
            <a:ext cx="1860247" cy="7213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Дата-инженеры, преподаватели, методисты </a:t>
            </a:r>
            <a:endParaRPr sz="1700">
              <a:latin typeface="Calibri"/>
              <a:ea typeface="Gramatika"/>
            </a:endParaRPr>
          </a:p>
          <a:p>
            <a:pPr algn="l"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 </a:t>
            </a:r>
            <a:endParaRPr sz="1700">
              <a:latin typeface="Calibri"/>
              <a:ea typeface="Gramatika"/>
            </a:endParaRPr>
          </a:p>
        </p:txBody>
      </p:sp>
      <p:sp>
        <p:nvSpPr>
          <p:cNvPr id="573532589" name="TextBox 22">
            <a:extLst>
              <a:ext uri="{FF2B5EF4-FFF2-40B4-BE49-F238E27FC236}">
                <a16:creationId xmlns:a16="http://schemas.microsoft.com/office/drawing/2014/main" id="{225249E0-8B87-915B-5DA8-064565798853}"/>
              </a:ext>
            </a:extLst>
          </p:cNvPr>
          <p:cNvSpPr txBox="1"/>
          <p:nvPr/>
        </p:nvSpPr>
        <p:spPr bwMode="auto">
          <a:xfrm>
            <a:off x="6349319" y="5228440"/>
            <a:ext cx="37989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600" dirty="0">
                <a:latin typeface="Calibri"/>
                <a:cs typeface="Calibri"/>
              </a:rPr>
              <a:t>Педагогические технологии (устройство курса, в том числе механизм использования ИИ для достижения образовательных результатов)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02474104" name="Заголовок 1">
            <a:extLst>
              <a:ext uri="{FF2B5EF4-FFF2-40B4-BE49-F238E27FC236}">
                <a16:creationId xmlns:a16="http://schemas.microsoft.com/office/drawing/2014/main" id="{7A1506D7-0ADB-2225-3961-A4B2BC9E9426}"/>
              </a:ext>
            </a:extLst>
          </p:cNvPr>
          <p:cNvSpPr txBox="1"/>
          <p:nvPr/>
        </p:nvSpPr>
        <p:spPr bwMode="auto">
          <a:xfrm>
            <a:off x="10524147" y="5442003"/>
            <a:ext cx="1761289" cy="4898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Методисты,</a:t>
            </a:r>
            <a:endParaRPr lang="ru-RU" sz="1700">
              <a:latin typeface="Calibri"/>
              <a:ea typeface="Gramatika"/>
            </a:endParaRPr>
          </a:p>
          <a:p>
            <a:pPr algn="l"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преподаватели</a:t>
            </a:r>
            <a:endParaRPr sz="1700">
              <a:latin typeface="Calibri"/>
              <a:ea typeface="Gramatika"/>
            </a:endParaRPr>
          </a:p>
          <a:p>
            <a:pPr algn="l"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 </a:t>
            </a:r>
            <a:endParaRPr sz="1700">
              <a:latin typeface="Calibri"/>
              <a:ea typeface="Gramatika"/>
            </a:endParaRPr>
          </a:p>
        </p:txBody>
      </p:sp>
      <p:sp>
        <p:nvSpPr>
          <p:cNvPr id="209418635" name="Заголовок 1">
            <a:extLst>
              <a:ext uri="{FF2B5EF4-FFF2-40B4-BE49-F238E27FC236}">
                <a16:creationId xmlns:a16="http://schemas.microsoft.com/office/drawing/2014/main" id="{9ADCD6F9-3758-EDE3-54A3-C01C7B52B69C}"/>
              </a:ext>
            </a:extLst>
          </p:cNvPr>
          <p:cNvSpPr txBox="1"/>
          <p:nvPr/>
        </p:nvSpPr>
        <p:spPr bwMode="auto">
          <a:xfrm>
            <a:off x="3990703" y="2577487"/>
            <a:ext cx="2626324" cy="573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2000" b="1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 </a:t>
            </a:r>
            <a:endParaRPr sz="2000">
              <a:solidFill>
                <a:srgbClr val="FF6B02"/>
              </a:solidFill>
              <a:latin typeface="Calibri"/>
              <a:ea typeface="Gramatika"/>
            </a:endParaRPr>
          </a:p>
        </p:txBody>
      </p:sp>
      <p:sp>
        <p:nvSpPr>
          <p:cNvPr id="1719523639" name="Заголовок 1">
            <a:extLst>
              <a:ext uri="{FF2B5EF4-FFF2-40B4-BE49-F238E27FC236}">
                <a16:creationId xmlns:a16="http://schemas.microsoft.com/office/drawing/2014/main" id="{459ECFCE-5FC0-DE8A-D19B-B434B09F2EF3}"/>
              </a:ext>
            </a:extLst>
          </p:cNvPr>
          <p:cNvSpPr txBox="1"/>
          <p:nvPr/>
        </p:nvSpPr>
        <p:spPr bwMode="auto">
          <a:xfrm>
            <a:off x="10524147" y="2005987"/>
            <a:ext cx="2204172" cy="4898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2000" b="1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Разработчики</a:t>
            </a:r>
            <a:endParaRPr sz="2000">
              <a:solidFill>
                <a:srgbClr val="FF6B02"/>
              </a:solidFill>
              <a:latin typeface="Calibri"/>
              <a:ea typeface="Gramatika"/>
            </a:endParaRPr>
          </a:p>
        </p:txBody>
      </p:sp>
      <p:sp>
        <p:nvSpPr>
          <p:cNvPr id="1103355021" name="Заголовок 1">
            <a:extLst>
              <a:ext uri="{FF2B5EF4-FFF2-40B4-BE49-F238E27FC236}">
                <a16:creationId xmlns:a16="http://schemas.microsoft.com/office/drawing/2014/main" id="{0D484655-1DFE-621C-9593-CC2B349E7BB8}"/>
              </a:ext>
            </a:extLst>
          </p:cNvPr>
          <p:cNvSpPr txBox="1"/>
          <p:nvPr/>
        </p:nvSpPr>
        <p:spPr bwMode="auto">
          <a:xfrm>
            <a:off x="6325153" y="1964322"/>
            <a:ext cx="3188056" cy="573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2000" b="1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Объекты разработки </a:t>
            </a:r>
            <a:endParaRPr sz="2000">
              <a:solidFill>
                <a:srgbClr val="FF6B02"/>
              </a:solidFill>
              <a:latin typeface="Calibri"/>
              <a:ea typeface="Gramatika"/>
            </a:endParaRPr>
          </a:p>
        </p:txBody>
      </p:sp>
      <p:sp>
        <p:nvSpPr>
          <p:cNvPr id="559370401" name="Заголовок 1">
            <a:extLst>
              <a:ext uri="{FF2B5EF4-FFF2-40B4-BE49-F238E27FC236}">
                <a16:creationId xmlns:a16="http://schemas.microsoft.com/office/drawing/2014/main" id="{788B5ABF-99BD-67F4-A627-FDF24FF29A18}"/>
              </a:ext>
            </a:extLst>
          </p:cNvPr>
          <p:cNvSpPr txBox="1"/>
          <p:nvPr/>
        </p:nvSpPr>
        <p:spPr bwMode="auto">
          <a:xfrm>
            <a:off x="3726523" y="1964322"/>
            <a:ext cx="2705920" cy="573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2000" b="1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Новое функциональное распределение </a:t>
            </a:r>
            <a:endParaRPr sz="2000">
              <a:solidFill>
                <a:srgbClr val="FF6B02"/>
              </a:solidFill>
              <a:latin typeface="Calibri"/>
              <a:ea typeface="Gramatika"/>
            </a:endParaRPr>
          </a:p>
        </p:txBody>
      </p:sp>
      <p:sp>
        <p:nvSpPr>
          <p:cNvPr id="758387532" name="Заголовок 1">
            <a:extLst>
              <a:ext uri="{FF2B5EF4-FFF2-40B4-BE49-F238E27FC236}">
                <a16:creationId xmlns:a16="http://schemas.microsoft.com/office/drawing/2014/main" id="{6A69143E-CF1E-86D1-0860-652FD745FFDE}"/>
              </a:ext>
            </a:extLst>
          </p:cNvPr>
          <p:cNvSpPr txBox="1"/>
          <p:nvPr/>
        </p:nvSpPr>
        <p:spPr bwMode="auto">
          <a:xfrm>
            <a:off x="178190" y="4271076"/>
            <a:ext cx="3840032" cy="17671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spcBef>
                <a:spcPts val="1199"/>
              </a:spcBef>
              <a:spcAft>
                <a:spcPts val="599"/>
              </a:spcAft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Организатор деятельности </a:t>
            </a:r>
            <a:endParaRPr sz="1700">
              <a:latin typeface="Calibri"/>
              <a:ea typeface="Gramatika"/>
            </a:endParaRPr>
          </a:p>
          <a:p>
            <a:pPr algn="l">
              <a:lnSpc>
                <a:spcPct val="100000"/>
              </a:lnSpc>
              <a:spcBef>
                <a:spcPts val="599"/>
              </a:spcBef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Настройщик межличностного </a:t>
            </a:r>
            <a:br>
              <a:rPr lang="ru-RU" sz="1700">
                <a:latin typeface="Calibri"/>
                <a:ea typeface="Gramatika"/>
                <a:cs typeface="Arial"/>
              </a:rPr>
            </a:br>
            <a:r>
              <a:rPr lang="ru-RU" sz="1700">
                <a:latin typeface="Calibri"/>
                <a:ea typeface="Gramatika"/>
                <a:cs typeface="Arial"/>
              </a:rPr>
              <a:t>опыта</a:t>
            </a:r>
            <a:endParaRPr sz="1700">
              <a:latin typeface="Calibri"/>
              <a:ea typeface="Gramatika"/>
            </a:endParaRPr>
          </a:p>
          <a:p>
            <a:pPr algn="l">
              <a:lnSpc>
                <a:spcPct val="150000"/>
              </a:lnSpc>
              <a:spcBef>
                <a:spcPts val="1199"/>
              </a:spcBef>
              <a:spcAft>
                <a:spcPts val="599"/>
              </a:spcAft>
              <a:defRPr/>
            </a:pPr>
            <a:r>
              <a:rPr lang="ru-RU" sz="1700">
                <a:latin typeface="Calibri"/>
                <a:ea typeface="Gramatika"/>
                <a:cs typeface="Arial"/>
              </a:rPr>
              <a:t>Хранитель мотивации</a:t>
            </a:r>
            <a:endParaRPr sz="1700">
              <a:latin typeface="Calibri"/>
              <a:ea typeface="Gramatika"/>
            </a:endParaRPr>
          </a:p>
        </p:txBody>
      </p:sp>
      <p:sp>
        <p:nvSpPr>
          <p:cNvPr id="337281564" name="Закрывающая фигурная скобка 50">
            <a:extLst>
              <a:ext uri="{FF2B5EF4-FFF2-40B4-BE49-F238E27FC236}">
                <a16:creationId xmlns:a16="http://schemas.microsoft.com/office/drawing/2014/main" id="{65E7F3CF-20FF-CA34-C916-2FCDB4F18DBF}"/>
              </a:ext>
            </a:extLst>
          </p:cNvPr>
          <p:cNvSpPr/>
          <p:nvPr/>
        </p:nvSpPr>
        <p:spPr bwMode="auto">
          <a:xfrm>
            <a:off x="3742326" y="2915120"/>
            <a:ext cx="248376" cy="954445"/>
          </a:xfrm>
          <a:prstGeom prst="rightBrace">
            <a:avLst>
              <a:gd name="adj1" fmla="val 8333"/>
              <a:gd name="adj2" fmla="val 50000"/>
            </a:avLst>
          </a:prstGeom>
          <a:ln w="22225">
            <a:solidFill>
              <a:srgbClr val="FF6B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ru-RU" sz="1700"/>
          </a:p>
        </p:txBody>
      </p:sp>
      <p:sp>
        <p:nvSpPr>
          <p:cNvPr id="1187680026" name="Закрывающая фигурная скобка 52">
            <a:extLst>
              <a:ext uri="{FF2B5EF4-FFF2-40B4-BE49-F238E27FC236}">
                <a16:creationId xmlns:a16="http://schemas.microsoft.com/office/drawing/2014/main" id="{3A7B8E54-8E8A-47B5-CD66-F4C2FA41009E}"/>
              </a:ext>
            </a:extLst>
          </p:cNvPr>
          <p:cNvSpPr/>
          <p:nvPr/>
        </p:nvSpPr>
        <p:spPr bwMode="auto">
          <a:xfrm>
            <a:off x="3726523" y="4245672"/>
            <a:ext cx="264178" cy="1965534"/>
          </a:xfrm>
          <a:prstGeom prst="rightBrace">
            <a:avLst>
              <a:gd name="adj1" fmla="val 8333"/>
              <a:gd name="adj2" fmla="val 50000"/>
            </a:avLst>
          </a:prstGeom>
          <a:ln w="22225">
            <a:solidFill>
              <a:srgbClr val="FF6B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ru-RU" sz="1700"/>
          </a:p>
        </p:txBody>
      </p:sp>
      <p:sp>
        <p:nvSpPr>
          <p:cNvPr id="211028968" name="Закрывающая фигурная скобка 54">
            <a:extLst>
              <a:ext uri="{FF2B5EF4-FFF2-40B4-BE49-F238E27FC236}">
                <a16:creationId xmlns:a16="http://schemas.microsoft.com/office/drawing/2014/main" id="{D53B0730-91D8-0938-78D5-F9F3C4A89BB1}"/>
              </a:ext>
            </a:extLst>
          </p:cNvPr>
          <p:cNvSpPr/>
          <p:nvPr/>
        </p:nvSpPr>
        <p:spPr bwMode="auto">
          <a:xfrm>
            <a:off x="3472159" y="4792208"/>
            <a:ext cx="214168" cy="1418998"/>
          </a:xfrm>
          <a:prstGeom prst="rightBrace">
            <a:avLst>
              <a:gd name="adj1" fmla="val 8333"/>
              <a:gd name="adj2" fmla="val 50000"/>
            </a:avLst>
          </a:prstGeom>
          <a:ln w="22225">
            <a:solidFill>
              <a:srgbClr val="FF6B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ru-RU" sz="1700"/>
          </a:p>
        </p:txBody>
      </p:sp>
      <p:sp>
        <p:nvSpPr>
          <p:cNvPr id="1207997516" name="Заголовок 1">
            <a:extLst>
              <a:ext uri="{FF2B5EF4-FFF2-40B4-BE49-F238E27FC236}">
                <a16:creationId xmlns:a16="http://schemas.microsoft.com/office/drawing/2014/main" id="{B09BD131-C88B-8374-5901-2DC76BB055BA}"/>
              </a:ext>
            </a:extLst>
          </p:cNvPr>
          <p:cNvSpPr txBox="1"/>
          <p:nvPr/>
        </p:nvSpPr>
        <p:spPr bwMode="auto">
          <a:xfrm>
            <a:off x="4058251" y="5486520"/>
            <a:ext cx="1899679" cy="366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1700" b="1" dirty="0">
                <a:solidFill>
                  <a:srgbClr val="FF6B02"/>
                </a:solidFill>
                <a:latin typeface="Calibri"/>
                <a:ea typeface="Gramatika"/>
                <a:cs typeface="Arial"/>
              </a:rPr>
              <a:t>Профессор</a:t>
            </a:r>
            <a:endParaRPr sz="1700" dirty="0">
              <a:solidFill>
                <a:srgbClr val="FF6B02"/>
              </a:solidFill>
              <a:latin typeface="Calibri"/>
              <a:ea typeface="Gramatika"/>
            </a:endParaRPr>
          </a:p>
        </p:txBody>
      </p:sp>
      <p:sp>
        <p:nvSpPr>
          <p:cNvPr id="538989478" name="Закрывающая фигурная скобка 9">
            <a:extLst>
              <a:ext uri="{FF2B5EF4-FFF2-40B4-BE49-F238E27FC236}">
                <a16:creationId xmlns:a16="http://schemas.microsoft.com/office/drawing/2014/main" id="{C4461DD7-FE57-FBBA-8800-0C0936AB076A}"/>
              </a:ext>
            </a:extLst>
          </p:cNvPr>
          <p:cNvSpPr/>
          <p:nvPr/>
        </p:nvSpPr>
        <p:spPr bwMode="auto">
          <a:xfrm>
            <a:off x="3467350" y="2915120"/>
            <a:ext cx="231651" cy="1767186"/>
          </a:xfrm>
          <a:prstGeom prst="rightBrace">
            <a:avLst>
              <a:gd name="adj1" fmla="val 8333"/>
              <a:gd name="adj2" fmla="val 50000"/>
            </a:avLst>
          </a:prstGeom>
          <a:ln w="22225">
            <a:solidFill>
              <a:srgbClr val="FF6B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ru-RU" sz="1700"/>
          </a:p>
        </p:txBody>
      </p:sp>
      <p:sp>
        <p:nvSpPr>
          <p:cNvPr id="914585137" name="TextBox 15">
            <a:extLst>
              <a:ext uri="{FF2B5EF4-FFF2-40B4-BE49-F238E27FC236}">
                <a16:creationId xmlns:a16="http://schemas.microsoft.com/office/drawing/2014/main" id="{38CEBDFF-28A7-ADB2-BD94-EAE4753E2FB3}"/>
              </a:ext>
            </a:extLst>
          </p:cNvPr>
          <p:cNvSpPr txBox="1"/>
          <p:nvPr/>
        </p:nvSpPr>
        <p:spPr bwMode="auto">
          <a:xfrm>
            <a:off x="6349319" y="2319338"/>
            <a:ext cx="4267264" cy="2774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Содержательно</a:t>
            </a:r>
            <a:r>
              <a:rPr lang="ru-RU" sz="16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 реконструкция экспертов в предметной области или исторически значимых личностей</a:t>
            </a:r>
            <a:endParaRPr lang="ru-RU" sz="1600" b="0" i="0" u="none" strike="noStrike" cap="none" spc="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Технически</a:t>
            </a:r>
            <a:r>
              <a:rPr lang="ru-RU" sz="16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 кастомизированный чат-бот на основе существующих БЯМ с векторной базой данных (экспертные материалы дисциплины), системой </a:t>
            </a:r>
            <a:r>
              <a:rPr lang="ru-RU" sz="1600" b="0" i="0" u="none" strike="noStrike" cap="none" spc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оркестрации</a:t>
            </a:r>
            <a:r>
              <a:rPr lang="ru-RU" sz="16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вызовов моделей со специально подобранными системными </a:t>
            </a:r>
            <a:r>
              <a:rPr lang="ru-RU" sz="1600" b="0" i="0" u="none" strike="noStrike" cap="none" spc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промптами</a:t>
            </a:r>
            <a:r>
              <a:rPr lang="ru-RU" sz="1600" b="0" i="0" u="none" strike="noStrike" cap="none" spc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и набором сценариев, запускаемых при распознавании соответствующего намерения пользователя</a:t>
            </a:r>
            <a:endParaRPr lang="ru-RU" sz="1600" b="0" i="0" u="none" strike="noStrike" cap="none" spc="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" name="Google Shape;104;p3">
            <a:extLst>
              <a:ext uri="{FF2B5EF4-FFF2-40B4-BE49-F238E27FC236}">
                <a16:creationId xmlns:a16="http://schemas.microsoft.com/office/drawing/2014/main" id="{7DA4FAC7-4BA2-4613-193B-E8909AEEAB60}"/>
              </a:ext>
            </a:extLst>
          </p:cNvPr>
          <p:cNvSpPr txBox="1"/>
          <p:nvPr/>
        </p:nvSpPr>
        <p:spPr bwMode="auto">
          <a:xfrm>
            <a:off x="203200" y="254001"/>
            <a:ext cx="780042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u="none" strike="noStrike" cap="none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Подход к экспериментированию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3" name="Google Shape;105;p3">
            <a:extLst>
              <a:ext uri="{FF2B5EF4-FFF2-40B4-BE49-F238E27FC236}">
                <a16:creationId xmlns:a16="http://schemas.microsoft.com/office/drawing/2014/main" id="{13348945-7258-9C9E-865C-98FF93529952}"/>
              </a:ext>
            </a:extLst>
          </p:cNvPr>
          <p:cNvCxnSpPr/>
          <p:nvPr/>
        </p:nvCxnSpPr>
        <p:spPr bwMode="auto"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23200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5CA430-093B-45BF-AD6C-723C86FBDA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1" y="494980"/>
            <a:ext cx="6858000" cy="6858000"/>
          </a:xfrm>
          <a:prstGeom prst="rect">
            <a:avLst/>
          </a:prstGeom>
        </p:spPr>
      </p:pic>
      <p:sp>
        <p:nvSpPr>
          <p:cNvPr id="2" name="Google Shape;104;p3">
            <a:extLst>
              <a:ext uri="{FF2B5EF4-FFF2-40B4-BE49-F238E27FC236}">
                <a16:creationId xmlns:a16="http://schemas.microsoft.com/office/drawing/2014/main" id="{C19B894A-2ACC-5FB7-FF8E-3D3B432E303D}"/>
              </a:ext>
            </a:extLst>
          </p:cNvPr>
          <p:cNvSpPr txBox="1"/>
          <p:nvPr/>
        </p:nvSpPr>
        <p:spPr>
          <a:xfrm>
            <a:off x="203200" y="254001"/>
            <a:ext cx="773379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Некоторые эксперименты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3" name="Google Shape;105;p3">
            <a:extLst>
              <a:ext uri="{FF2B5EF4-FFF2-40B4-BE49-F238E27FC236}">
                <a16:creationId xmlns:a16="http://schemas.microsoft.com/office/drawing/2014/main" id="{D0D6D481-9AF8-049F-2901-26AA9CC1A354}"/>
              </a:ext>
            </a:extLst>
          </p:cNvPr>
          <p:cNvCxnSpPr/>
          <p:nvPr/>
        </p:nvCxnSpPr>
        <p:spPr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82BC7442-A001-F6D7-7A21-E9EF970398AD}"/>
              </a:ext>
            </a:extLst>
          </p:cNvPr>
          <p:cNvGrpSpPr/>
          <p:nvPr/>
        </p:nvGrpSpPr>
        <p:grpSpPr>
          <a:xfrm>
            <a:off x="298505" y="1574201"/>
            <a:ext cx="10095043" cy="5104910"/>
            <a:chOff x="298505" y="1574201"/>
            <a:chExt cx="10095043" cy="510491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039CD6-634B-C85C-17FD-E85607697DE4}"/>
                </a:ext>
              </a:extLst>
            </p:cNvPr>
            <p:cNvSpPr txBox="1"/>
            <p:nvPr/>
          </p:nvSpPr>
          <p:spPr>
            <a:xfrm>
              <a:off x="8069454" y="6321449"/>
              <a:ext cx="2324094" cy="35766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ru-RU" sz="1600" b="1" dirty="0">
                  <a:latin typeface="+mn-lt"/>
                  <a:ea typeface="Open Sans"/>
                  <a:cs typeface="Open Sans"/>
                </a:rPr>
                <a:t>содержание</a:t>
              </a:r>
            </a:p>
          </p:txBody>
        </p:sp>
        <p:cxnSp>
          <p:nvCxnSpPr>
            <p:cNvPr id="6" name="Прямая со стрелкой 5">
              <a:extLst>
                <a:ext uri="{FF2B5EF4-FFF2-40B4-BE49-F238E27FC236}">
                  <a16:creationId xmlns:a16="http://schemas.microsoft.com/office/drawing/2014/main" id="{C50A5448-CAAB-3DD8-1D6F-49E3B4BD11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348" y="2058032"/>
              <a:ext cx="0" cy="4169044"/>
            </a:xfrm>
            <a:prstGeom prst="straightConnector1">
              <a:avLst/>
            </a:prstGeom>
            <a:ln w="31750">
              <a:solidFill>
                <a:srgbClr val="FF7A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 стрелкой 9">
              <a:extLst>
                <a:ext uri="{FF2B5EF4-FFF2-40B4-BE49-F238E27FC236}">
                  <a16:creationId xmlns:a16="http://schemas.microsoft.com/office/drawing/2014/main" id="{2FEC9B55-B37C-8E51-4629-28C0BECF1E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348" y="6199369"/>
              <a:ext cx="8753306" cy="27707"/>
            </a:xfrm>
            <a:prstGeom prst="straightConnector1">
              <a:avLst/>
            </a:prstGeom>
            <a:ln w="31750">
              <a:solidFill>
                <a:srgbClr val="FF7A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3B4093-AEEA-3386-610C-30FD3FB91C3C}"/>
                </a:ext>
              </a:extLst>
            </p:cNvPr>
            <p:cNvSpPr txBox="1"/>
            <p:nvPr/>
          </p:nvSpPr>
          <p:spPr>
            <a:xfrm rot="16200000">
              <a:off x="-435285" y="2307991"/>
              <a:ext cx="1825241" cy="35766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ru-RU" sz="1600" b="1" dirty="0">
                  <a:latin typeface="+mn-lt"/>
                  <a:ea typeface="Open Sans"/>
                  <a:cs typeface="Open Sans"/>
                </a:rPr>
                <a:t>радикальность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067D86-BC00-4354-8573-C2EF6D6C9DC9}"/>
                </a:ext>
              </a:extLst>
            </p:cNvPr>
            <p:cNvSpPr txBox="1"/>
            <p:nvPr/>
          </p:nvSpPr>
          <p:spPr>
            <a:xfrm>
              <a:off x="5237039" y="3055046"/>
              <a:ext cx="2324094" cy="35766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ru-RU" sz="1600" dirty="0">
                  <a:latin typeface="+mn-lt"/>
                  <a:ea typeface="Open Sans"/>
                  <a:cs typeface="Open Sans"/>
                </a:rPr>
                <a:t>Дизайн-мышление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FB0FF9E-64CE-BDEF-9949-1B95D8890F20}"/>
                </a:ext>
              </a:extLst>
            </p:cNvPr>
            <p:cNvSpPr txBox="1"/>
            <p:nvPr/>
          </p:nvSpPr>
          <p:spPr>
            <a:xfrm>
              <a:off x="3587120" y="5372811"/>
              <a:ext cx="2324094" cy="64081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defRPr/>
              </a:pPr>
              <a:r>
                <a:rPr lang="ru-RU" sz="1600" dirty="0">
                  <a:latin typeface="+mn-lt"/>
                  <a:ea typeface="Open Sans"/>
                  <a:cs typeface="Open Sans"/>
                </a:rPr>
                <a:t>Аналитическая систематика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071A042-AE3C-AB76-DED1-48B2686F590A}"/>
                </a:ext>
              </a:extLst>
            </p:cNvPr>
            <p:cNvSpPr txBox="1"/>
            <p:nvPr/>
          </p:nvSpPr>
          <p:spPr>
            <a:xfrm>
              <a:off x="7828092" y="2054709"/>
              <a:ext cx="2324094" cy="33855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 lvl="0">
                <a:buClrTx/>
                <a:defRPr/>
              </a:pPr>
              <a:r>
                <a:rPr lang="en" sz="1600" dirty="0">
                  <a:latin typeface="+mn-lt"/>
                  <a:ea typeface="Open Sans"/>
                  <a:cs typeface="Open Sans"/>
                </a:rPr>
                <a:t>Sound studies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2183EA-D204-83B4-D7F7-B170353B218F}"/>
                </a:ext>
              </a:extLst>
            </p:cNvPr>
            <p:cNvSpPr txBox="1"/>
            <p:nvPr/>
          </p:nvSpPr>
          <p:spPr>
            <a:xfrm>
              <a:off x="6169157" y="2141458"/>
              <a:ext cx="1901610" cy="33855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ru-RU" sz="1600" dirty="0">
                  <a:latin typeface="+mn-lt"/>
                  <a:ea typeface="Open Sans"/>
                  <a:cs typeface="Open Sans"/>
                </a:rPr>
                <a:t>Мир сквозь время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7F78497-768B-D645-4252-05DDB25499CE}"/>
                </a:ext>
              </a:extLst>
            </p:cNvPr>
            <p:cNvSpPr txBox="1"/>
            <p:nvPr/>
          </p:nvSpPr>
          <p:spPr>
            <a:xfrm>
              <a:off x="7386560" y="2465159"/>
              <a:ext cx="2324094" cy="33855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>
                <a:buClrTx/>
                <a:defRPr/>
              </a:pPr>
              <a:r>
                <a:rPr lang="ru-RU" sz="1600" dirty="0">
                  <a:latin typeface="+mn-lt"/>
                  <a:ea typeface="Open Sans"/>
                  <a:cs typeface="Open Sans"/>
                </a:rPr>
                <a:t>Теория новых медиа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9890D4F-1949-ECC6-B0E8-E7DDDB457F65}"/>
                </a:ext>
              </a:extLst>
            </p:cNvPr>
            <p:cNvSpPr txBox="1"/>
            <p:nvPr/>
          </p:nvSpPr>
          <p:spPr>
            <a:xfrm>
              <a:off x="7123434" y="4892358"/>
              <a:ext cx="2324094" cy="642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defRPr/>
              </a:pPr>
              <a:r>
                <a:rPr lang="ru-RU" sz="1600" dirty="0">
                  <a:latin typeface="+mn-lt"/>
                  <a:ea typeface="Open Sans"/>
                  <a:cs typeface="Open Sans"/>
                </a:rPr>
                <a:t>Великие педагогические тексты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3FA17F-FD3B-50BA-427B-45BAF2EB70A9}"/>
                </a:ext>
              </a:extLst>
            </p:cNvPr>
            <p:cNvSpPr txBox="1"/>
            <p:nvPr/>
          </p:nvSpPr>
          <p:spPr>
            <a:xfrm>
              <a:off x="6248582" y="3470983"/>
              <a:ext cx="2324094" cy="64081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defRPr/>
              </a:pPr>
              <a:r>
                <a:rPr lang="ru-RU" sz="1600" dirty="0">
                  <a:latin typeface="+mn-lt"/>
                  <a:ea typeface="Open Sans"/>
                  <a:cs typeface="Open Sans"/>
                </a:rPr>
                <a:t>Великие книги. Литература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2D4AF6A-89EB-38A8-837E-88BB57164127}"/>
                </a:ext>
              </a:extLst>
            </p:cNvPr>
            <p:cNvSpPr txBox="1"/>
            <p:nvPr/>
          </p:nvSpPr>
          <p:spPr>
            <a:xfrm>
              <a:off x="1141413" y="5645231"/>
              <a:ext cx="2324094" cy="35766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ru-RU" sz="1600" dirty="0">
                  <a:latin typeface="+mn-lt"/>
                  <a:ea typeface="Open Sans"/>
                  <a:cs typeface="Open Sans"/>
                </a:rPr>
                <a:t>Математика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B63CD2-61A5-C273-A0CF-F233B6A1BC6E}"/>
                </a:ext>
              </a:extLst>
            </p:cNvPr>
            <p:cNvSpPr txBox="1"/>
            <p:nvPr/>
          </p:nvSpPr>
          <p:spPr>
            <a:xfrm>
              <a:off x="3835447" y="3951928"/>
              <a:ext cx="1962639" cy="58477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 lvl="0">
                <a:buClrTx/>
                <a:defRPr/>
              </a:pPr>
              <a:r>
                <a:rPr lang="ru-RU" sz="1600" dirty="0">
                  <a:latin typeface="+mn-lt"/>
                  <a:ea typeface="Open Sans"/>
                  <a:cs typeface="Open Sans"/>
                </a:rPr>
                <a:t>Эксперименты с ИИ в образовании</a:t>
              </a:r>
              <a:endParaRPr lang="en" sz="1600" dirty="0">
                <a:latin typeface="+mn-lt"/>
                <a:ea typeface="Open Sans"/>
                <a:cs typeface="Open San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CACEDDE-E3F5-5C8E-F33D-89A47C05DB4E}"/>
                </a:ext>
              </a:extLst>
            </p:cNvPr>
            <p:cNvSpPr txBox="1"/>
            <p:nvPr/>
          </p:nvSpPr>
          <p:spPr>
            <a:xfrm>
              <a:off x="2280883" y="2155501"/>
              <a:ext cx="2324094" cy="33855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ru-RU" sz="1600" dirty="0">
                  <a:latin typeface="+mn-lt"/>
                  <a:ea typeface="Open Sans"/>
                  <a:cs typeface="Open Sans"/>
                </a:rPr>
                <a:t>Макроэкономика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942EE25-41B7-7E50-AA1B-6349CF23344F}"/>
                </a:ext>
              </a:extLst>
            </p:cNvPr>
            <p:cNvSpPr txBox="1"/>
            <p:nvPr/>
          </p:nvSpPr>
          <p:spPr>
            <a:xfrm>
              <a:off x="3193437" y="2552951"/>
              <a:ext cx="2700031" cy="64203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defRPr/>
              </a:pPr>
              <a:r>
                <a:rPr lang="ru-RU" sz="1600" dirty="0">
                  <a:latin typeface="+mn-lt"/>
                  <a:ea typeface="Open Sans"/>
                  <a:cs typeface="Open Sans"/>
                </a:rPr>
                <a:t>Научно-исследовательский семинар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559DFED-0099-9C18-19C7-B40AD523B0C0}"/>
                </a:ext>
              </a:extLst>
            </p:cNvPr>
            <p:cNvSpPr txBox="1"/>
            <p:nvPr/>
          </p:nvSpPr>
          <p:spPr>
            <a:xfrm>
              <a:off x="2150458" y="3480112"/>
              <a:ext cx="2324094" cy="64081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defRPr/>
              </a:pPr>
              <a:r>
                <a:rPr lang="ru-RU" sz="1600" dirty="0">
                  <a:latin typeface="+mn-lt"/>
                  <a:ea typeface="Open Sans"/>
                  <a:cs typeface="Open Sans"/>
                </a:rPr>
                <a:t>Биология поведения человека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CED9867-2922-34A6-DBCD-69B649B238D4}"/>
                </a:ext>
              </a:extLst>
            </p:cNvPr>
            <p:cNvSpPr txBox="1"/>
            <p:nvPr/>
          </p:nvSpPr>
          <p:spPr>
            <a:xfrm>
              <a:off x="5450100" y="5476064"/>
              <a:ext cx="2324094" cy="64081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defRPr/>
              </a:pPr>
              <a:r>
                <a:rPr lang="ru-RU" sz="1600" dirty="0">
                  <a:latin typeface="+mn-lt"/>
                  <a:ea typeface="Open Sans"/>
                  <a:cs typeface="Open Sans"/>
                </a:rPr>
                <a:t>Продуктовые исследования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EE9BA57-312B-EAC0-0517-15D9E26AA246}"/>
                </a:ext>
              </a:extLst>
            </p:cNvPr>
            <p:cNvSpPr txBox="1"/>
            <p:nvPr/>
          </p:nvSpPr>
          <p:spPr>
            <a:xfrm>
              <a:off x="7784853" y="2835562"/>
              <a:ext cx="2324094" cy="58477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>
              <a:spAutoFit/>
            </a:bodyPr>
            <a:lstStyle/>
            <a:p>
              <a:pPr>
                <a:buClrTx/>
                <a:defRPr/>
              </a:pPr>
              <a:r>
                <a:rPr lang="ru-RU" sz="1600" dirty="0">
                  <a:latin typeface="+mn-lt"/>
                  <a:ea typeface="Open Sans"/>
                  <a:cs typeface="Open Sans"/>
                </a:rPr>
                <a:t>Основы гуманитарных наук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240A82C-6585-78B7-8107-B21AF496C393}"/>
                </a:ext>
              </a:extLst>
            </p:cNvPr>
            <p:cNvSpPr txBox="1"/>
            <p:nvPr/>
          </p:nvSpPr>
          <p:spPr>
            <a:xfrm>
              <a:off x="1492983" y="5061398"/>
              <a:ext cx="1819522" cy="3588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defRPr/>
              </a:pPr>
              <a:r>
                <a:rPr lang="ru-RU" sz="1600" dirty="0">
                  <a:latin typeface="+mn-lt"/>
                  <a:ea typeface="Open Sans"/>
                  <a:cs typeface="Open Sans"/>
                </a:rPr>
                <a:t>Квантовая химия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A8A7F44-A350-D50F-0400-6C6ABC22926E}"/>
                </a:ext>
              </a:extLst>
            </p:cNvPr>
            <p:cNvSpPr txBox="1"/>
            <p:nvPr/>
          </p:nvSpPr>
          <p:spPr>
            <a:xfrm>
              <a:off x="7698115" y="5591449"/>
              <a:ext cx="165241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600" dirty="0">
                  <a:latin typeface="+mn-lt"/>
                  <a:ea typeface="Open Sans"/>
                  <a:cs typeface="Open Sans"/>
                </a:rPr>
                <a:t>Лексикология</a:t>
              </a:r>
              <a:r>
                <a:rPr lang="ru-RU" sz="1400" dirty="0">
                  <a:effectLst/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lang="ru-RU" dirty="0">
                <a:latin typeface="+mn-lt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AD202C5-518A-82C1-D528-F2C12E17FB12}"/>
                </a:ext>
              </a:extLst>
            </p:cNvPr>
            <p:cNvSpPr txBox="1"/>
            <p:nvPr/>
          </p:nvSpPr>
          <p:spPr>
            <a:xfrm>
              <a:off x="7707037" y="4205893"/>
              <a:ext cx="196282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600" dirty="0">
                  <a:latin typeface="+mn-lt"/>
                  <a:ea typeface="Open Sans"/>
                  <a:cs typeface="Open Sans"/>
                </a:rPr>
                <a:t>Мотивационный</a:t>
              </a:r>
              <a:r>
                <a:rPr lang="ru-RU" sz="1400" dirty="0">
                  <a:effectLst/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ru-RU" sz="1600" dirty="0">
                  <a:latin typeface="+mn-lt"/>
                  <a:ea typeface="Open Sans"/>
                  <a:cs typeface="Open Sans"/>
                </a:rPr>
                <a:t>дизайн</a:t>
              </a:r>
              <a:r>
                <a:rPr lang="ru-RU" sz="1400" dirty="0">
                  <a:effectLst/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lang="ru-RU" dirty="0">
                <a:latin typeface="+mn-lt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6CE3224-3385-CFA8-119F-EC5FA045F70A}"/>
                </a:ext>
              </a:extLst>
            </p:cNvPr>
            <p:cNvSpPr txBox="1"/>
            <p:nvPr/>
          </p:nvSpPr>
          <p:spPr>
            <a:xfrm>
              <a:off x="4543452" y="4591358"/>
              <a:ext cx="2356361" cy="640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defRPr/>
              </a:pPr>
              <a:r>
                <a:rPr lang="ru-RU" sz="1600" dirty="0">
                  <a:latin typeface="+mn-lt"/>
                  <a:ea typeface="Open Sans"/>
                  <a:cs typeface="Open Sans"/>
                </a:rPr>
                <a:t>Методология исследований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6562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EA7AC6D3-2898-9E69-DCB9-139244555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624d54116f_0_9" title="мозаика 2.png">
            <a:extLst>
              <a:ext uri="{FF2B5EF4-FFF2-40B4-BE49-F238E27FC236}">
                <a16:creationId xmlns:a16="http://schemas.microsoft.com/office/drawing/2014/main" id="{068E2361-CD12-6539-F60D-7ADA0169119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90526" cy="6857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g3624d54116f_0_9">
            <a:extLst>
              <a:ext uri="{FF2B5EF4-FFF2-40B4-BE49-F238E27FC236}">
                <a16:creationId xmlns:a16="http://schemas.microsoft.com/office/drawing/2014/main" id="{761E07E1-B5EC-ADBE-BB1A-0B73CFD1C664}"/>
              </a:ext>
            </a:extLst>
          </p:cNvPr>
          <p:cNvCxnSpPr/>
          <p:nvPr/>
        </p:nvCxnSpPr>
        <p:spPr>
          <a:xfrm rot="10800000" flipH="1">
            <a:off x="7037888" y="5251722"/>
            <a:ext cx="5170500" cy="1200"/>
          </a:xfrm>
          <a:prstGeom prst="straightConnector1">
            <a:avLst/>
          </a:prstGeom>
          <a:noFill/>
          <a:ln w="730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" name="Google Shape;139;g3624d54116f_0_9">
            <a:extLst>
              <a:ext uri="{FF2B5EF4-FFF2-40B4-BE49-F238E27FC236}">
                <a16:creationId xmlns:a16="http://schemas.microsoft.com/office/drawing/2014/main" id="{AA5D4E0D-97A3-335D-D055-39A263AF3322}"/>
              </a:ext>
            </a:extLst>
          </p:cNvPr>
          <p:cNvSpPr txBox="1"/>
          <p:nvPr/>
        </p:nvSpPr>
        <p:spPr>
          <a:xfrm>
            <a:off x="4956624" y="2666439"/>
            <a:ext cx="7041056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Эксперименты в Биологии поведения человека</a:t>
            </a:r>
            <a:endParaRPr sz="5400" b="1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" name="Google Shape;104;p3">
            <a:extLst>
              <a:ext uri="{FF2B5EF4-FFF2-40B4-BE49-F238E27FC236}">
                <a16:creationId xmlns:a16="http://schemas.microsoft.com/office/drawing/2014/main" id="{813F82E1-482E-DBF7-D936-3F51FD238684}"/>
              </a:ext>
            </a:extLst>
          </p:cNvPr>
          <p:cNvSpPr txBox="1"/>
          <p:nvPr/>
        </p:nvSpPr>
        <p:spPr>
          <a:xfrm>
            <a:off x="5996930" y="5352911"/>
            <a:ext cx="600075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Дисциплина реализуется в режиме недельного интенсива на бизнес-бакалавриате СКОЛКОВО-МФТИ,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60 студентов 1 курса</a:t>
            </a:r>
            <a:endParaRPr sz="20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</p:spTree>
    <p:extLst>
      <p:ext uri="{BB962C8B-B14F-4D97-AF65-F5344CB8AC3E}">
        <p14:creationId xmlns:p14="http://schemas.microsoft.com/office/powerpoint/2010/main" val="1694543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BFBC82E-F697-409E-E196-8090475BD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F0C870E9-80B6-0728-32E6-63ED97B47C05}"/>
              </a:ext>
            </a:extLst>
          </p:cNvPr>
          <p:cNvSpPr txBox="1"/>
          <p:nvPr/>
        </p:nvSpPr>
        <p:spPr>
          <a:xfrm>
            <a:off x="203199" y="254001"/>
            <a:ext cx="1013416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u="none" strike="noStrike" cap="none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3 варианта курса биологии поведения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105" name="Google Shape;105;p3">
            <a:extLst>
              <a:ext uri="{FF2B5EF4-FFF2-40B4-BE49-F238E27FC236}">
                <a16:creationId xmlns:a16="http://schemas.microsoft.com/office/drawing/2014/main" id="{8321C638-1A01-7724-F526-18B3FB0B37F1}"/>
              </a:ext>
            </a:extLst>
          </p:cNvPr>
          <p:cNvCxnSpPr/>
          <p:nvPr/>
        </p:nvCxnSpPr>
        <p:spPr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" name="Google Shape;105;p3">
            <a:extLst>
              <a:ext uri="{FF2B5EF4-FFF2-40B4-BE49-F238E27FC236}">
                <a16:creationId xmlns:a16="http://schemas.microsoft.com/office/drawing/2014/main" id="{DF1743D1-5DE4-93B2-DFE0-7989731115E8}"/>
              </a:ext>
            </a:extLst>
          </p:cNvPr>
          <p:cNvCxnSpPr>
            <a:cxnSpLocks/>
          </p:cNvCxnSpPr>
          <p:nvPr/>
        </p:nvCxnSpPr>
        <p:spPr>
          <a:xfrm>
            <a:off x="4209351" y="1713636"/>
            <a:ext cx="0" cy="4872681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" name="Google Shape;105;p3">
            <a:extLst>
              <a:ext uri="{FF2B5EF4-FFF2-40B4-BE49-F238E27FC236}">
                <a16:creationId xmlns:a16="http://schemas.microsoft.com/office/drawing/2014/main" id="{EFDC6CF5-54B0-228E-37AF-C6E8A3439F44}"/>
              </a:ext>
            </a:extLst>
          </p:cNvPr>
          <p:cNvCxnSpPr>
            <a:cxnSpLocks/>
          </p:cNvCxnSpPr>
          <p:nvPr/>
        </p:nvCxnSpPr>
        <p:spPr>
          <a:xfrm>
            <a:off x="8064361" y="1713636"/>
            <a:ext cx="0" cy="4872681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25A223C-1242-F860-7D95-E58E9CCFFF6B}"/>
              </a:ext>
            </a:extLst>
          </p:cNvPr>
          <p:cNvSpPr txBox="1"/>
          <p:nvPr/>
        </p:nvSpPr>
        <p:spPr>
          <a:xfrm>
            <a:off x="225142" y="1203431"/>
            <a:ext cx="2245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7B9D29-086B-9058-9303-E4AEC4BE8120}"/>
              </a:ext>
            </a:extLst>
          </p:cNvPr>
          <p:cNvSpPr txBox="1"/>
          <p:nvPr/>
        </p:nvSpPr>
        <p:spPr>
          <a:xfrm>
            <a:off x="354342" y="1870603"/>
            <a:ext cx="22451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Задачи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5D83AA-DFBD-9D0D-CB55-8847A60A949D}"/>
              </a:ext>
            </a:extLst>
          </p:cNvPr>
          <p:cNvSpPr txBox="1"/>
          <p:nvPr/>
        </p:nvSpPr>
        <p:spPr>
          <a:xfrm>
            <a:off x="4696582" y="1870603"/>
            <a:ext cx="22451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Задачи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816297-C0CA-C52A-CF83-E35D3A25A05F}"/>
              </a:ext>
            </a:extLst>
          </p:cNvPr>
          <p:cNvSpPr txBox="1"/>
          <p:nvPr/>
        </p:nvSpPr>
        <p:spPr>
          <a:xfrm>
            <a:off x="8680791" y="1870603"/>
            <a:ext cx="22451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Задачи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947826-78B6-52F2-98DD-833533849406}"/>
              </a:ext>
            </a:extLst>
          </p:cNvPr>
          <p:cNvSpPr txBox="1"/>
          <p:nvPr/>
        </p:nvSpPr>
        <p:spPr>
          <a:xfrm>
            <a:off x="4483953" y="1203430"/>
            <a:ext cx="2245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7EAA7C-B4B5-4611-6340-339F16CCE4EE}"/>
              </a:ext>
            </a:extLst>
          </p:cNvPr>
          <p:cNvSpPr txBox="1"/>
          <p:nvPr/>
        </p:nvSpPr>
        <p:spPr>
          <a:xfrm>
            <a:off x="8340165" y="1248513"/>
            <a:ext cx="2245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2025</a:t>
            </a:r>
          </a:p>
        </p:txBody>
      </p:sp>
      <p:sp>
        <p:nvSpPr>
          <p:cNvPr id="18" name="Google Shape;176;p3">
            <a:extLst>
              <a:ext uri="{FF2B5EF4-FFF2-40B4-BE49-F238E27FC236}">
                <a16:creationId xmlns:a16="http://schemas.microsoft.com/office/drawing/2014/main" id="{A9986B94-261F-50CD-86EF-7702E59FC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8155568" y="2243025"/>
            <a:ext cx="4036432" cy="461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 fontScale="85000" lnSpcReduction="10000"/>
          </a:bodyPr>
          <a:lstStyle/>
          <a:p>
            <a:pPr marL="285750" indent="-285750">
              <a:lnSpc>
                <a:spcPct val="120000"/>
              </a:lnSpc>
              <a:spcBef>
                <a:spcPts val="599"/>
              </a:spcBef>
              <a:spcAft>
                <a:spcPts val="599"/>
              </a:spcAft>
              <a:buSzPct val="100000"/>
              <a:defRPr/>
            </a:pPr>
            <a:r>
              <a:rPr lang="ru-RU" sz="17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научиться ставить </a:t>
            </a:r>
            <a:r>
              <a:rPr lang="ru-RU" sz="17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исследовательские вопросы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20000"/>
              </a:lnSpc>
              <a:spcBef>
                <a:spcPts val="599"/>
              </a:spcBef>
              <a:spcAft>
                <a:spcPts val="599"/>
              </a:spcAft>
              <a:buSzPct val="100000"/>
              <a:defRPr/>
            </a:pPr>
            <a:r>
              <a:rPr lang="ru-RU" sz="17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знать основные </a:t>
            </a:r>
            <a:r>
              <a:rPr lang="ru-RU" sz="17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элементы исследовательского протокола</a:t>
            </a:r>
            <a:r>
              <a:rPr lang="ru-RU" sz="17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на материале биологии поведения человека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20000"/>
              </a:lnSpc>
              <a:spcBef>
                <a:spcPts val="599"/>
              </a:spcBef>
              <a:spcAft>
                <a:spcPts val="599"/>
              </a:spcAft>
              <a:buSzPct val="100000"/>
              <a:defRPr/>
            </a:pPr>
            <a:r>
              <a:rPr lang="ru-RU" sz="17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выработать способность </a:t>
            </a:r>
            <a:r>
              <a:rPr lang="ru-RU" sz="17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картировать</a:t>
            </a:r>
            <a:r>
              <a:rPr lang="ru-RU" sz="17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проблемную область [поле научного интереса]</a:t>
            </a:r>
            <a:endParaRPr sz="17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20000"/>
              </a:lnSpc>
              <a:spcBef>
                <a:spcPts val="599"/>
              </a:spcBef>
              <a:spcAft>
                <a:spcPts val="599"/>
              </a:spcAft>
              <a:buSzPct val="100000"/>
              <a:defRPr/>
            </a:pPr>
            <a:r>
              <a:rPr lang="ru-RU" sz="17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использовать ИИ‑Персону как </a:t>
            </a:r>
            <a:r>
              <a:rPr lang="ru-RU" sz="17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зеркало для диалога </a:t>
            </a:r>
            <a:r>
              <a:rPr lang="ru-RU" sz="17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 базе научного метода, тренировки способности ставить исследовательские вопросы и проверки рабочих гипотез</a:t>
            </a:r>
            <a:endParaRPr sz="17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20000"/>
              </a:lnSpc>
              <a:spcBef>
                <a:spcPts val="599"/>
              </a:spcBef>
              <a:spcAft>
                <a:spcPts val="599"/>
              </a:spcAft>
              <a:buSzPct val="100000"/>
              <a:defRPr/>
            </a:pPr>
            <a:r>
              <a:rPr lang="ru-RU" sz="17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приобрести первый </a:t>
            </a:r>
            <a:r>
              <a:rPr lang="ru-RU" sz="17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опыт научного поиска </a:t>
            </a:r>
            <a:r>
              <a:rPr lang="ru-RU" sz="17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режиме конструктивного любопытства и диалога с коллегами и экспертами</a:t>
            </a:r>
            <a:endParaRPr sz="17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7966CE-3E7E-E050-7160-CFA68D94F04B}"/>
              </a:ext>
            </a:extLst>
          </p:cNvPr>
          <p:cNvSpPr txBox="1"/>
          <p:nvPr/>
        </p:nvSpPr>
        <p:spPr>
          <a:xfrm>
            <a:off x="4420488" y="2380261"/>
            <a:ext cx="355266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понимать эволюционные основы биосоциальности человека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понимать, как наследственность влияет на формирование поведения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понимать, что у всего, что происходит в нашей жизни на бытовом уровне, нет единой траектории развития;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понимать, как формируется поведение, как оно связано с гормонами и уровнем нейромедиаторов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знать, какие бывают нарушения; на что обращать внимание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обрабатывать данные о различных аспектах поведения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использование терминологии в контексте (например, анамнез семьи)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C45EBC-7597-CDAE-771F-3AA02AF0C170}"/>
              </a:ext>
            </a:extLst>
          </p:cNvPr>
          <p:cNvSpPr txBox="1"/>
          <p:nvPr/>
        </p:nvSpPr>
        <p:spPr>
          <a:xfrm>
            <a:off x="225142" y="2380260"/>
            <a:ext cx="370840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понимать эволюционные основы биосоциальности человека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понимать как наследственность влияет на формирование поведения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понимать, что у всего, что происходит в нашей жизни на бытовом уровне, нет единой траектории развития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понимать, как формируется поведение, как оно связано с гормонами и уровнем нейромедиаторов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знать, какие бывают нарушения; на что обращать внимание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обрабатывать данные о различных аспектах поведения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использование терминологии в контексте (например, анамнез семьи)</a:t>
            </a:r>
          </a:p>
        </p:txBody>
      </p:sp>
    </p:spTree>
    <p:extLst>
      <p:ext uri="{BB962C8B-B14F-4D97-AF65-F5344CB8AC3E}">
        <p14:creationId xmlns:p14="http://schemas.microsoft.com/office/powerpoint/2010/main" val="1878105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4BA0963-96F2-C3F1-50A0-79C98CBAE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AF71F537-FB98-04EB-523E-C35A76EA7674}"/>
              </a:ext>
            </a:extLst>
          </p:cNvPr>
          <p:cNvSpPr txBox="1"/>
          <p:nvPr/>
        </p:nvSpPr>
        <p:spPr>
          <a:xfrm>
            <a:off x="203199" y="254001"/>
            <a:ext cx="98087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u="none" strike="noStrike" cap="none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3 варианта курса биологии поведения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105" name="Google Shape;105;p3">
            <a:extLst>
              <a:ext uri="{FF2B5EF4-FFF2-40B4-BE49-F238E27FC236}">
                <a16:creationId xmlns:a16="http://schemas.microsoft.com/office/drawing/2014/main" id="{C8077258-0AC8-6F3C-8CF9-3F95D292055F}"/>
              </a:ext>
            </a:extLst>
          </p:cNvPr>
          <p:cNvCxnSpPr/>
          <p:nvPr/>
        </p:nvCxnSpPr>
        <p:spPr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" name="Google Shape;105;p3">
            <a:extLst>
              <a:ext uri="{FF2B5EF4-FFF2-40B4-BE49-F238E27FC236}">
                <a16:creationId xmlns:a16="http://schemas.microsoft.com/office/drawing/2014/main" id="{2A25D3D0-EE7F-24C7-EF98-F1238A3F1B78}"/>
              </a:ext>
            </a:extLst>
          </p:cNvPr>
          <p:cNvCxnSpPr>
            <a:cxnSpLocks/>
          </p:cNvCxnSpPr>
          <p:nvPr/>
        </p:nvCxnSpPr>
        <p:spPr>
          <a:xfrm>
            <a:off x="4209351" y="1713636"/>
            <a:ext cx="0" cy="4872681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" name="Google Shape;105;p3">
            <a:extLst>
              <a:ext uri="{FF2B5EF4-FFF2-40B4-BE49-F238E27FC236}">
                <a16:creationId xmlns:a16="http://schemas.microsoft.com/office/drawing/2014/main" id="{6681097C-6776-F48F-5923-12571F156535}"/>
              </a:ext>
            </a:extLst>
          </p:cNvPr>
          <p:cNvCxnSpPr>
            <a:cxnSpLocks/>
          </p:cNvCxnSpPr>
          <p:nvPr/>
        </p:nvCxnSpPr>
        <p:spPr>
          <a:xfrm>
            <a:off x="8064361" y="1713636"/>
            <a:ext cx="0" cy="4872681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D616FF3-98DE-188F-8610-F214583CE9A2}"/>
              </a:ext>
            </a:extLst>
          </p:cNvPr>
          <p:cNvSpPr txBox="1"/>
          <p:nvPr/>
        </p:nvSpPr>
        <p:spPr>
          <a:xfrm>
            <a:off x="225142" y="1203431"/>
            <a:ext cx="2245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B9350-F229-8231-D6E1-36DD49F07601}"/>
              </a:ext>
            </a:extLst>
          </p:cNvPr>
          <p:cNvSpPr txBox="1"/>
          <p:nvPr/>
        </p:nvSpPr>
        <p:spPr>
          <a:xfrm>
            <a:off x="354341" y="1870603"/>
            <a:ext cx="3367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Деятельность студентов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A908E4-B640-371A-F333-3F2FCFCAB869}"/>
              </a:ext>
            </a:extLst>
          </p:cNvPr>
          <p:cNvSpPr txBox="1"/>
          <p:nvPr/>
        </p:nvSpPr>
        <p:spPr>
          <a:xfrm>
            <a:off x="4696581" y="1870603"/>
            <a:ext cx="3091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Деятельность студентов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54FABA-76D9-0FB9-5829-1664B0D0D29D}"/>
              </a:ext>
            </a:extLst>
          </p:cNvPr>
          <p:cNvSpPr txBox="1"/>
          <p:nvPr/>
        </p:nvSpPr>
        <p:spPr>
          <a:xfrm>
            <a:off x="8680790" y="1870603"/>
            <a:ext cx="3091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Деятельность студентов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D24F2C-6990-F3C1-3E11-DCE651FDE5DC}"/>
              </a:ext>
            </a:extLst>
          </p:cNvPr>
          <p:cNvSpPr txBox="1"/>
          <p:nvPr/>
        </p:nvSpPr>
        <p:spPr>
          <a:xfrm>
            <a:off x="4483953" y="1203430"/>
            <a:ext cx="2245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1D2935-2050-5D05-6363-0342829C10F8}"/>
              </a:ext>
            </a:extLst>
          </p:cNvPr>
          <p:cNvSpPr txBox="1"/>
          <p:nvPr/>
        </p:nvSpPr>
        <p:spPr>
          <a:xfrm>
            <a:off x="8340165" y="1248513"/>
            <a:ext cx="2245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2025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FF0CF9FC-262D-1D62-0F3E-3851C102D1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1839502"/>
              </p:ext>
            </p:extLst>
          </p:nvPr>
        </p:nvGraphicFramePr>
        <p:xfrm>
          <a:off x="8064361" y="2243024"/>
          <a:ext cx="5403649" cy="4511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65DA01B-D4EA-C99C-EFE8-42D3FF725E1D}"/>
              </a:ext>
            </a:extLst>
          </p:cNvPr>
          <p:cNvSpPr txBox="1"/>
          <p:nvPr/>
        </p:nvSpPr>
        <p:spPr>
          <a:xfrm>
            <a:off x="4421546" y="2351089"/>
            <a:ext cx="336700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подготовка с опорой на ИИ-персоны докладов по отдельным темам в индивидуальном и групповом формате с последующим обсуждением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проведение сессий совместных разборов проблемных вопросов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с помощью ИИ-персоны и медиатора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знакомство со способами решения задач на генетическое наследование признаков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F9DEE2-CA84-24D1-DB43-5A44BB9797FB}"/>
              </a:ext>
            </a:extLst>
          </p:cNvPr>
          <p:cNvSpPr txBox="1"/>
          <p:nvPr/>
        </p:nvSpPr>
        <p:spPr>
          <a:xfrm>
            <a:off x="225922" y="2351089"/>
            <a:ext cx="336700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Слушание и конспектирование лекций на слух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Участие в семинарах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Проектная работа (подготовка ответа на междисциплинарный кейс)</a:t>
            </a:r>
            <a:endParaRPr lang="ru-RU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274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931761" name="Google Shape;180;p3"/>
          <p:cNvSpPr txBox="1">
            <a:spLocks noGrp="1"/>
          </p:cNvSpPr>
          <p:nvPr>
            <p:ph type="sldNum" idx="12"/>
          </p:nvPr>
        </p:nvSpPr>
        <p:spPr bwMode="auto">
          <a:xfrm>
            <a:off x="11353799" y="6398699"/>
            <a:ext cx="464694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F7CCC1E1-4BCD-E041-EEA7-3C67203509AD}" type="slidenum">
              <a:rPr lang="en-GB">
                <a:latin typeface="Arial"/>
                <a:cs typeface="Arial"/>
              </a:rPr>
              <a:t>12</a:t>
            </a:fld>
            <a:endParaRPr>
              <a:latin typeface="Arial"/>
              <a:cs typeface="Arial"/>
            </a:endParaRPr>
          </a:p>
        </p:txBody>
      </p:sp>
      <p:sp>
        <p:nvSpPr>
          <p:cNvPr id="2032761452" name="Текст 5"/>
          <p:cNvSpPr>
            <a:spLocks noGrp="1"/>
          </p:cNvSpPr>
          <p:nvPr>
            <p:ph type="body" idx="3"/>
          </p:nvPr>
        </p:nvSpPr>
        <p:spPr bwMode="auto">
          <a:xfrm>
            <a:off x="571286" y="1590098"/>
            <a:ext cx="9165141" cy="4808601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оценка индивидуального прогресса по ответам на контрольные вопросы (задание выполняется индивидуально, самостоятельно) – вес 20%</a:t>
            </a:r>
            <a:endParaRPr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оценка первой карты (критерии оценки: корректность представления элементов и их связей, подробность карты, ссылки на источники) – вес 20%</a:t>
            </a:r>
            <a:endParaRPr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оценка защиты (вес всего 45%)</a:t>
            </a:r>
            <a:endParaRPr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1688" lvl="8" indent="-285750">
              <a:buFont typeface="Wingdings" panose="05000000000000000000" pitchFamily="2" charset="2"/>
              <a:buChar char="§"/>
              <a:defRPr/>
            </a:pP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качество представленной работы (критерии оценки: научность, язык, использование протокола, подробность карты, ссылки на источники) – вес 25%</a:t>
            </a:r>
            <a:endParaRPr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1688" lvl="7" indent="-285750">
              <a:buFont typeface="Wingdings" panose="05000000000000000000" pitchFamily="2" charset="2"/>
              <a:buChar char="§"/>
              <a:defRPr/>
            </a:pP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качество вопросов другим группам (критерии оценки: глубина, корректность) - вес 10%</a:t>
            </a:r>
            <a:endParaRPr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1688" lvl="7" indent="-285750">
              <a:buFont typeface="Wingdings" panose="05000000000000000000" pitchFamily="2" charset="2"/>
              <a:buChar char="§"/>
              <a:defRPr/>
            </a:pP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качество ответов на вопросы групп и эксперта (критерии оценки: полнота, корректность, научность, язык) – вес 10%</a:t>
            </a:r>
            <a:endParaRPr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активность на занятиях – вес 15%</a:t>
            </a:r>
            <a:endParaRPr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Google Shape;104;p3">
            <a:extLst>
              <a:ext uri="{FF2B5EF4-FFF2-40B4-BE49-F238E27FC236}">
                <a16:creationId xmlns:a16="http://schemas.microsoft.com/office/drawing/2014/main" id="{05946C85-D5AB-4124-A51F-19894DD820FB}"/>
              </a:ext>
            </a:extLst>
          </p:cNvPr>
          <p:cNvSpPr txBox="1"/>
          <p:nvPr/>
        </p:nvSpPr>
        <p:spPr>
          <a:xfrm>
            <a:off x="203199" y="254001"/>
            <a:ext cx="98087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u="none" strike="noStrike" cap="none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Контроль достижения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15" name="Google Shape;105;p3">
            <a:extLst>
              <a:ext uri="{FF2B5EF4-FFF2-40B4-BE49-F238E27FC236}">
                <a16:creationId xmlns:a16="http://schemas.microsoft.com/office/drawing/2014/main" id="{89881233-57A6-42EA-9E6F-A18A5D200E0B}"/>
              </a:ext>
            </a:extLst>
          </p:cNvPr>
          <p:cNvCxnSpPr/>
          <p:nvPr/>
        </p:nvCxnSpPr>
        <p:spPr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6B95526-6205-CB32-C0AA-B107FC1E145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707138" name="Google Shape;176;p3">
            <a:extLst>
              <a:ext uri="{FF2B5EF4-FFF2-40B4-BE49-F238E27FC236}">
                <a16:creationId xmlns:a16="http://schemas.microsoft.com/office/drawing/2014/main" id="{D1FAA62C-3B66-378B-A82F-EA03CF19E3E6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482850" y="1351721"/>
            <a:ext cx="8795262" cy="4985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/>
          <a:p>
            <a:pPr marL="0" lvl="0" indent="0" algn="l">
              <a:lnSpc>
                <a:spcPct val="12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ct val="100000"/>
              <a:buNone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Деятельность студента и столкновение с препятствием/проблемой – условие выхода в слой мышления </a:t>
            </a:r>
          </a:p>
          <a:p>
            <a:pPr marL="0" lvl="0" indent="0" algn="l">
              <a:lnSpc>
                <a:spcPct val="12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ct val="100000"/>
              <a:buNone/>
              <a:defRPr/>
            </a:pP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Экспликация мышления для возможности заметить, отрефлексировать, изменить способ мышления </a:t>
            </a:r>
            <a:endParaRPr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1931761" name="Google Shape;180;p3">
            <a:extLst>
              <a:ext uri="{FF2B5EF4-FFF2-40B4-BE49-F238E27FC236}">
                <a16:creationId xmlns:a16="http://schemas.microsoft.com/office/drawing/2014/main" id="{FAF88B9E-761F-70F2-9570-C3DA1839DF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353799" y="6398699"/>
            <a:ext cx="464694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F7CCC1E1-4BCD-E041-EEA7-3C67203509AD}" type="slidenum">
              <a:rPr lang="en-GB">
                <a:latin typeface="Arial"/>
                <a:cs typeface="Arial"/>
              </a:rPr>
              <a:t>13</a:t>
            </a:fld>
            <a:endParaRPr>
              <a:latin typeface="Arial"/>
              <a:cs typeface="Arial"/>
            </a:endParaRPr>
          </a:p>
        </p:txBody>
      </p:sp>
      <p:sp>
        <p:nvSpPr>
          <p:cNvPr id="2" name="Google Shape;104;p3">
            <a:extLst>
              <a:ext uri="{FF2B5EF4-FFF2-40B4-BE49-F238E27FC236}">
                <a16:creationId xmlns:a16="http://schemas.microsoft.com/office/drawing/2014/main" id="{EA16C90D-FC65-C3BF-4667-7649A1EFF751}"/>
              </a:ext>
            </a:extLst>
          </p:cNvPr>
          <p:cNvSpPr txBox="1"/>
          <p:nvPr/>
        </p:nvSpPr>
        <p:spPr bwMode="auto">
          <a:xfrm>
            <a:off x="203200" y="254001"/>
            <a:ext cx="780042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dk1"/>
                </a:solidFill>
                <a:ea typeface="PT Sans"/>
                <a:cs typeface="PT Sans"/>
                <a:sym typeface="PT Sans"/>
              </a:rPr>
              <a:t>Механизм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3" name="Google Shape;105;p3">
            <a:extLst>
              <a:ext uri="{FF2B5EF4-FFF2-40B4-BE49-F238E27FC236}">
                <a16:creationId xmlns:a16="http://schemas.microsoft.com/office/drawing/2014/main" id="{446147C2-C9D1-9299-B58E-46BD1743180A}"/>
              </a:ext>
            </a:extLst>
          </p:cNvPr>
          <p:cNvCxnSpPr/>
          <p:nvPr/>
        </p:nvCxnSpPr>
        <p:spPr bwMode="auto"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79628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253146" name="Google Shape;177;p3"/>
          <p:cNvSpPr txBox="1"/>
          <p:nvPr/>
        </p:nvSpPr>
        <p:spPr bwMode="auto">
          <a:xfrm>
            <a:off x="647267" y="1528719"/>
            <a:ext cx="11061880" cy="5202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ИИ-персоны: </a:t>
            </a:r>
            <a:r>
              <a:rPr lang="ru-RU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Имре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 и Роберт 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Студенты друг для друга 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Источники (научные статьи, монографии, записи лекций…)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Другие нейросети и поисковики 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Font typeface="Arial"/>
              <a:buChar char="•"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Эксперт – носитель исследовательской практики 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Font typeface="Arial"/>
              <a:buChar char="•"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Медиаторы – организаторы деятельности и коммуникации, а также мотиваторы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Font typeface="Arial"/>
              <a:buChar char="•"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Доска для совместной работы 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04;p3">
            <a:extLst>
              <a:ext uri="{FF2B5EF4-FFF2-40B4-BE49-F238E27FC236}">
                <a16:creationId xmlns:a16="http://schemas.microsoft.com/office/drawing/2014/main" id="{12B81FD1-F175-F693-72C2-4120E95DC5C2}"/>
              </a:ext>
            </a:extLst>
          </p:cNvPr>
          <p:cNvSpPr txBox="1"/>
          <p:nvPr/>
        </p:nvSpPr>
        <p:spPr bwMode="auto">
          <a:xfrm>
            <a:off x="203200" y="254001"/>
            <a:ext cx="780042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u="none" strike="noStrike" cap="none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Ресурсы для студентов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4" name="Google Shape;105;p3">
            <a:extLst>
              <a:ext uri="{FF2B5EF4-FFF2-40B4-BE49-F238E27FC236}">
                <a16:creationId xmlns:a16="http://schemas.microsoft.com/office/drawing/2014/main" id="{3B27D71B-6CB6-78D6-6E00-73A09CF08299}"/>
              </a:ext>
            </a:extLst>
          </p:cNvPr>
          <p:cNvCxnSpPr/>
          <p:nvPr/>
        </p:nvCxnSpPr>
        <p:spPr bwMode="auto"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C1664E-627E-6DDA-E734-30E65159BCAE}"/>
              </a:ext>
            </a:extLst>
          </p:cNvPr>
          <p:cNvSpPr txBox="1"/>
          <p:nvPr/>
        </p:nvSpPr>
        <p:spPr>
          <a:xfrm>
            <a:off x="630524" y="1118239"/>
            <a:ext cx="958649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ИИ-Имре </a:t>
            </a: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Распознавание намерений и запуск </a:t>
            </a:r>
            <a:r>
              <a:rPr lang="ru-RU" sz="2000" dirty="0" err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воркфлоу</a:t>
            </a:r>
            <a:endParaRPr lang="ru-RU" sz="20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Консультация по подбору теоретических рамок и их обсуждение</a:t>
            </a: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Критика исследовательских вопросов, гипотез, дизайна исследования</a:t>
            </a: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Подбор литературы</a:t>
            </a: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Обсуждение (встречные вопросы, метафоры)</a:t>
            </a:r>
          </a:p>
          <a:p>
            <a:endParaRPr lang="ru-RU" b="1" dirty="0">
              <a:solidFill>
                <a:srgbClr val="59585A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endParaRPr lang="ru-RU" b="1" dirty="0">
              <a:solidFill>
                <a:srgbClr val="59585A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r>
              <a:rPr lang="ru-RU" sz="36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ИИ-Роберт</a:t>
            </a: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Ранжирование 7 дисциплинарных рамок по соответствию запросу</a:t>
            </a:r>
          </a:p>
          <a:p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Рассуждение в ответ на запрос последовательно из подходящих дисциплинарных рамок</a:t>
            </a:r>
          </a:p>
        </p:txBody>
      </p:sp>
    </p:spTree>
    <p:extLst>
      <p:ext uri="{BB962C8B-B14F-4D97-AF65-F5344CB8AC3E}">
        <p14:creationId xmlns:p14="http://schemas.microsoft.com/office/powerpoint/2010/main" val="1711227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447310975" name="Таблиц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3491042"/>
              </p:ext>
            </p:extLst>
          </p:nvPr>
        </p:nvGraphicFramePr>
        <p:xfrm>
          <a:off x="577168" y="1008040"/>
          <a:ext cx="11131979" cy="565663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693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8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338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  <a:sym typeface="Arial"/>
                        </a:rPr>
                        <a:t>Тип активностей </a:t>
                      </a:r>
                      <a:endParaRPr sz="1800" b="1" i="0" u="none" strike="noStrike" cap="none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  <a:sym typeface="Arial"/>
                        </a:rPr>
                        <a:t>Комментарий </a:t>
                      </a:r>
                      <a:endParaRPr sz="1800" b="1" i="0" u="none" strike="noStrike" cap="none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Arial"/>
                        <a:sym typeface="Arial"/>
                      </a:endParaRPr>
                    </a:p>
                    <a:p>
                      <a:pPr>
                        <a:defRPr/>
                      </a:pPr>
                      <a:endParaRPr lang="ru-RU" sz="1800" b="1" i="0" u="none" strike="noStrike" cap="none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 dirty="0">
                          <a:latin typeface="Arial"/>
                          <a:cs typeface="Arial"/>
                        </a:rPr>
                        <a:t>Общие установки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>
                          <a:latin typeface="Arial"/>
                          <a:cs typeface="Arial"/>
                        </a:rPr>
                        <a:t>эксперт в теме – 1,5 часа из 36 астр. часов (4%</a:t>
                      </a:r>
                      <a:r>
                        <a:rPr lang="en-US" sz="1800">
                          <a:latin typeface="Arial"/>
                          <a:cs typeface="Arial"/>
                        </a:rPr>
                        <a:t>)</a:t>
                      </a:r>
                      <a:endParaRPr lang="ru-RU" sz="180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635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>
                          <a:latin typeface="Arial"/>
                          <a:cs typeface="Arial"/>
                        </a:rPr>
                        <a:t>Работа в командах с участием ИИ-персон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800">
                          <a:latin typeface="Arial"/>
                          <a:cs typeface="Arial"/>
                        </a:rPr>
                        <a:t>картирование предметной области, дискуссии/дебаты, чтение источников для реконструкции позиций, аргументов и т.д., взаимное обучение, упражнения на аргументацию и контраргументацию, формулирование исследовательских вопросов, представление сложных концепций простыми словами с юмором и т.д.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916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>
                          <a:latin typeface="Arial"/>
                          <a:cs typeface="Arial"/>
                        </a:rPr>
                        <a:t>Обсуждение результатов работы между командами, на пленарах и с экспертом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>
                          <a:latin typeface="Arial"/>
                          <a:cs typeface="Arial"/>
                        </a:rPr>
                        <a:t>обсуждение с экспертом – 37 минут (3 сессии) на команду до 5 человек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ru-RU" sz="1800">
                          <a:latin typeface="Arial"/>
                          <a:cs typeface="Arial"/>
                        </a:rPr>
                        <a:t>кросс-командное обсуждение – (5 часов)</a:t>
                      </a:r>
                      <a:endParaRPr/>
                    </a:p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197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>
                          <a:latin typeface="Arial"/>
                          <a:cs typeface="Arial"/>
                        </a:rPr>
                        <a:t>Выполнение дополнительных упражнений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sz="1800" dirty="0">
                          <a:latin typeface="Arial"/>
                          <a:cs typeface="Arial"/>
                        </a:rPr>
                        <a:t>упражнение на формирование способности вести диалог с ИИ-персонами, ставить исследовательские вопросы и др.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Google Shape;104;p3">
            <a:extLst>
              <a:ext uri="{FF2B5EF4-FFF2-40B4-BE49-F238E27FC236}">
                <a16:creationId xmlns:a16="http://schemas.microsoft.com/office/drawing/2014/main" id="{CBFD6720-4986-444B-B77C-A38A19326CF0}"/>
              </a:ext>
            </a:extLst>
          </p:cNvPr>
          <p:cNvSpPr txBox="1"/>
          <p:nvPr/>
        </p:nvSpPr>
        <p:spPr bwMode="auto">
          <a:xfrm>
            <a:off x="203200" y="254001"/>
            <a:ext cx="780042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u="none" strike="noStrike" cap="none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Устройство процесса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3" name="Google Shape;105;p3">
            <a:extLst>
              <a:ext uri="{FF2B5EF4-FFF2-40B4-BE49-F238E27FC236}">
                <a16:creationId xmlns:a16="http://schemas.microsoft.com/office/drawing/2014/main" id="{D2A4AE0E-6E11-E432-54E7-6E18688ACC8B}"/>
              </a:ext>
            </a:extLst>
          </p:cNvPr>
          <p:cNvCxnSpPr/>
          <p:nvPr/>
        </p:nvCxnSpPr>
        <p:spPr bwMode="auto"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C40C150-0C59-49D3-7C38-E61182B7E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618057F0-F5BC-6808-A832-E6CE6A71B688}"/>
              </a:ext>
            </a:extLst>
          </p:cNvPr>
          <p:cNvSpPr txBox="1"/>
          <p:nvPr/>
        </p:nvSpPr>
        <p:spPr>
          <a:xfrm>
            <a:off x="203199" y="254001"/>
            <a:ext cx="976220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u="none" strike="noStrike" cap="none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3 варианта курса биологии поведения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105" name="Google Shape;105;p3">
            <a:extLst>
              <a:ext uri="{FF2B5EF4-FFF2-40B4-BE49-F238E27FC236}">
                <a16:creationId xmlns:a16="http://schemas.microsoft.com/office/drawing/2014/main" id="{B182D223-043C-5AE0-A9A0-7B1F9966EE59}"/>
              </a:ext>
            </a:extLst>
          </p:cNvPr>
          <p:cNvCxnSpPr/>
          <p:nvPr/>
        </p:nvCxnSpPr>
        <p:spPr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" name="Google Shape;105;p3">
            <a:extLst>
              <a:ext uri="{FF2B5EF4-FFF2-40B4-BE49-F238E27FC236}">
                <a16:creationId xmlns:a16="http://schemas.microsoft.com/office/drawing/2014/main" id="{78F0DA83-C476-D751-6323-E5CCDB28599C}"/>
              </a:ext>
            </a:extLst>
          </p:cNvPr>
          <p:cNvCxnSpPr>
            <a:cxnSpLocks/>
          </p:cNvCxnSpPr>
          <p:nvPr/>
        </p:nvCxnSpPr>
        <p:spPr>
          <a:xfrm>
            <a:off x="4209351" y="1713636"/>
            <a:ext cx="0" cy="4872681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" name="Google Shape;105;p3">
            <a:extLst>
              <a:ext uri="{FF2B5EF4-FFF2-40B4-BE49-F238E27FC236}">
                <a16:creationId xmlns:a16="http://schemas.microsoft.com/office/drawing/2014/main" id="{A34CDA52-97A0-BF7E-987D-81E90D632F49}"/>
              </a:ext>
            </a:extLst>
          </p:cNvPr>
          <p:cNvCxnSpPr>
            <a:cxnSpLocks/>
          </p:cNvCxnSpPr>
          <p:nvPr/>
        </p:nvCxnSpPr>
        <p:spPr>
          <a:xfrm>
            <a:off x="8064361" y="1713636"/>
            <a:ext cx="0" cy="4872681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C54A85F-66EC-BDCA-DBDD-A9E5E2B80297}"/>
              </a:ext>
            </a:extLst>
          </p:cNvPr>
          <p:cNvSpPr txBox="1"/>
          <p:nvPr/>
        </p:nvSpPr>
        <p:spPr>
          <a:xfrm>
            <a:off x="225142" y="1203431"/>
            <a:ext cx="2245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EBD431-DE30-B40E-8C78-269E232092B1}"/>
              </a:ext>
            </a:extLst>
          </p:cNvPr>
          <p:cNvSpPr txBox="1"/>
          <p:nvPr/>
        </p:nvSpPr>
        <p:spPr>
          <a:xfrm>
            <a:off x="354341" y="1870603"/>
            <a:ext cx="3367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Результаты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603DC7-DCB1-A116-78ED-BBF4ADC6BC7C}"/>
              </a:ext>
            </a:extLst>
          </p:cNvPr>
          <p:cNvSpPr txBox="1"/>
          <p:nvPr/>
        </p:nvSpPr>
        <p:spPr>
          <a:xfrm>
            <a:off x="4696581" y="1870603"/>
            <a:ext cx="3091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Результаты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064E05-30DC-FFF2-6642-8053DCDB311F}"/>
              </a:ext>
            </a:extLst>
          </p:cNvPr>
          <p:cNvSpPr txBox="1"/>
          <p:nvPr/>
        </p:nvSpPr>
        <p:spPr>
          <a:xfrm>
            <a:off x="8680790" y="1870603"/>
            <a:ext cx="30919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Результаты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E9A3D5-FF8E-2F73-0100-31D76B27027F}"/>
              </a:ext>
            </a:extLst>
          </p:cNvPr>
          <p:cNvSpPr txBox="1"/>
          <p:nvPr/>
        </p:nvSpPr>
        <p:spPr>
          <a:xfrm>
            <a:off x="4483953" y="1203430"/>
            <a:ext cx="2245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C94D12-D80C-67F7-C249-500886DDE6CA}"/>
              </a:ext>
            </a:extLst>
          </p:cNvPr>
          <p:cNvSpPr txBox="1"/>
          <p:nvPr/>
        </p:nvSpPr>
        <p:spPr>
          <a:xfrm>
            <a:off x="8340165" y="1248513"/>
            <a:ext cx="2245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0941F5-FF56-22C2-71DD-1E64101B7DAD}"/>
              </a:ext>
            </a:extLst>
          </p:cNvPr>
          <p:cNvSpPr txBox="1"/>
          <p:nvPr/>
        </p:nvSpPr>
        <p:spPr>
          <a:xfrm>
            <a:off x="8321917" y="2243025"/>
            <a:ext cx="360382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Созданы 13 карт предметной области вокруг предложенных вопросов: ключевые дисциплины, теории, концепты, противоречия, исследовательские вопросы в рамках одной дисциплины и междисциплинарные, а также связи между этими элементами</a:t>
            </a:r>
          </a:p>
          <a:p>
            <a:pPr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defRPr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Оценки от 6 до 9 по 10-бальной шкале </a:t>
            </a:r>
          </a:p>
          <a:p>
            <a:pPr marL="285750" indent="-285750"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финальной</a:t>
            </a:r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 защите продемонстрирована способность рассуждать о логике поиска научно обоснованного ответа на вопрос </a:t>
            </a:r>
          </a:p>
          <a:p>
            <a:pPr marL="285750" indent="-285750"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/>
            </a:pPr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Сформулировано более 300 исследовательских вопросов </a:t>
            </a:r>
          </a:p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Индивидуальный прогресс: ср. 22,96 по шкале от -25 до +25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3D04AD-DB98-CA62-4296-C30B6565A44B}"/>
              </a:ext>
            </a:extLst>
          </p:cNvPr>
          <p:cNvSpPr txBox="1"/>
          <p:nvPr/>
        </p:nvSpPr>
        <p:spPr>
          <a:xfrm>
            <a:off x="4483953" y="2257150"/>
            <a:ext cx="36038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3 теста. Средний балл 32 из 45</a:t>
            </a:r>
          </a:p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Семантическое расстояние по отношению к литературе курса на 60% меньше по сравнению с лекционным курсом </a:t>
            </a:r>
            <a:endParaRPr lang="ru-RU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9A6497-5192-EB33-3251-33CBDAEB7357}"/>
              </a:ext>
            </a:extLst>
          </p:cNvPr>
          <p:cNvSpPr txBox="1"/>
          <p:nvPr/>
        </p:nvSpPr>
        <p:spPr>
          <a:xfrm>
            <a:off x="236315" y="2466090"/>
            <a:ext cx="3603827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Семинары – средняя оценка 5,64</a:t>
            </a:r>
          </a:p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Тест – 6,4</a:t>
            </a:r>
          </a:p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Проектная работа – 6,5</a:t>
            </a:r>
          </a:p>
        </p:txBody>
      </p:sp>
    </p:spTree>
    <p:extLst>
      <p:ext uri="{BB962C8B-B14F-4D97-AF65-F5344CB8AC3E}">
        <p14:creationId xmlns:p14="http://schemas.microsoft.com/office/powerpoint/2010/main" val="752657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C064815D-9DCE-AE50-5FA5-149ACA436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624d54116f_0_9" title="мозаика 2.png">
            <a:extLst>
              <a:ext uri="{FF2B5EF4-FFF2-40B4-BE49-F238E27FC236}">
                <a16:creationId xmlns:a16="http://schemas.microsoft.com/office/drawing/2014/main" id="{B9CB96C8-F036-DA06-0DD8-C9EBC71902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90526" cy="6857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g3624d54116f_0_9">
            <a:extLst>
              <a:ext uri="{FF2B5EF4-FFF2-40B4-BE49-F238E27FC236}">
                <a16:creationId xmlns:a16="http://schemas.microsoft.com/office/drawing/2014/main" id="{588A080C-D89A-530B-8237-46D66C38BD8F}"/>
              </a:ext>
            </a:extLst>
          </p:cNvPr>
          <p:cNvCxnSpPr/>
          <p:nvPr/>
        </p:nvCxnSpPr>
        <p:spPr>
          <a:xfrm rot="10800000" flipH="1">
            <a:off x="7037888" y="5251722"/>
            <a:ext cx="5170500" cy="1200"/>
          </a:xfrm>
          <a:prstGeom prst="straightConnector1">
            <a:avLst/>
          </a:prstGeom>
          <a:noFill/>
          <a:ln w="730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" name="Google Shape;139;g3624d54116f_0_9">
            <a:extLst>
              <a:ext uri="{FF2B5EF4-FFF2-40B4-BE49-F238E27FC236}">
                <a16:creationId xmlns:a16="http://schemas.microsoft.com/office/drawing/2014/main" id="{0BA871BA-D3F4-328B-9666-8E08AF229343}"/>
              </a:ext>
            </a:extLst>
          </p:cNvPr>
          <p:cNvSpPr txBox="1"/>
          <p:nvPr/>
        </p:nvSpPr>
        <p:spPr>
          <a:xfrm>
            <a:off x="4956624" y="2666439"/>
            <a:ext cx="7041056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Эксперименты в Дизайн-мышлении</a:t>
            </a:r>
            <a:endParaRPr sz="5400" b="1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  <p:extLst>
      <p:ext uri="{BB962C8B-B14F-4D97-AF65-F5344CB8AC3E}">
        <p14:creationId xmlns:p14="http://schemas.microsoft.com/office/powerpoint/2010/main" val="3615008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BEA0C3B4-51DE-4E91-9CC8-9E25A2D03F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0223" y="1805213"/>
            <a:ext cx="10515600" cy="4673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Ядерная дисциплина, 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курс, один квартиль (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32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часа контактной работы)</a:t>
            </a:r>
            <a:b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Ключевые результаты: </a:t>
            </a:r>
            <a:b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отличать собственные знания от пользовательских историй; </a:t>
            </a:r>
          </a:p>
          <a:p>
            <a:pPr lvl="1"/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анализировать опыт пользователя, выявляя разрывы; </a:t>
            </a:r>
          </a:p>
          <a:p>
            <a:pPr lvl="1"/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продумывать варианты решений в ответ на разрывы/ потребности пользователя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Образовательная модель: проектно-ориентированное обучение</a:t>
            </a: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04;p3">
            <a:extLst>
              <a:ext uri="{FF2B5EF4-FFF2-40B4-BE49-F238E27FC236}">
                <a16:creationId xmlns:a16="http://schemas.microsoft.com/office/drawing/2014/main" id="{D300C48B-3EBF-E745-E2AF-67C6326D8FB2}"/>
              </a:ext>
            </a:extLst>
          </p:cNvPr>
          <p:cNvSpPr txBox="1"/>
          <p:nvPr/>
        </p:nvSpPr>
        <p:spPr>
          <a:xfrm>
            <a:off x="203199" y="254001"/>
            <a:ext cx="976220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u="none" strike="noStrike" cap="none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О курсе Дизайн-мышление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5" name="Google Shape;105;p3">
            <a:extLst>
              <a:ext uri="{FF2B5EF4-FFF2-40B4-BE49-F238E27FC236}">
                <a16:creationId xmlns:a16="http://schemas.microsoft.com/office/drawing/2014/main" id="{D4269465-51EC-CE35-6FDD-2E1F0C797406}"/>
              </a:ext>
            </a:extLst>
          </p:cNvPr>
          <p:cNvCxnSpPr/>
          <p:nvPr/>
        </p:nvCxnSpPr>
        <p:spPr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E39F2D7-57C0-671C-0355-E8C252732AAD}"/>
              </a:ext>
            </a:extLst>
          </p:cNvPr>
          <p:cNvSpPr/>
          <p:nvPr/>
        </p:nvSpPr>
        <p:spPr>
          <a:xfrm>
            <a:off x="10646229" y="254001"/>
            <a:ext cx="1436914" cy="1117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701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42081B-E5E4-4A3C-A6BD-C8A942F96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677" y="397396"/>
            <a:ext cx="10515600" cy="840014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+mn-lt"/>
                <a:sym typeface="Arial"/>
              </a:rPr>
              <a:t>Об эксперименте </a:t>
            </a: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1EFA86B0-EE25-FCE1-4CD7-8AFB7375C099}"/>
              </a:ext>
            </a:extLst>
          </p:cNvPr>
          <p:cNvSpPr/>
          <p:nvPr/>
        </p:nvSpPr>
        <p:spPr>
          <a:xfrm>
            <a:off x="-30161" y="1505745"/>
            <a:ext cx="1461178" cy="3746499"/>
          </a:xfrm>
          <a:prstGeom prst="roundRect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Первое занятие: принципы, этапы и инструменты дизайн-мышления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D367A336-23A2-1798-8C49-C512B82EE82D}"/>
              </a:ext>
            </a:extLst>
          </p:cNvPr>
          <p:cNvSpPr/>
          <p:nvPr/>
        </p:nvSpPr>
        <p:spPr>
          <a:xfrm>
            <a:off x="10792277" y="1424783"/>
            <a:ext cx="1371600" cy="3746499"/>
          </a:xfrm>
          <a:prstGeom prst="roundRect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Последнее  занятие: защита проектов </a:t>
            </a:r>
          </a:p>
        </p:txBody>
      </p:sp>
      <p:sp>
        <p:nvSpPr>
          <p:cNvPr id="17" name="Стрелка вправо 16">
            <a:extLst>
              <a:ext uri="{FF2B5EF4-FFF2-40B4-BE49-F238E27FC236}">
                <a16:creationId xmlns:a16="http://schemas.microsoft.com/office/drawing/2014/main" id="{2EC57298-8D30-01DA-ACCE-FD2C23443386}"/>
              </a:ext>
            </a:extLst>
          </p:cNvPr>
          <p:cNvSpPr/>
          <p:nvPr/>
        </p:nvSpPr>
        <p:spPr>
          <a:xfrm>
            <a:off x="1431016" y="1505745"/>
            <a:ext cx="9630683" cy="2043111"/>
          </a:xfrm>
          <a:prstGeom prst="rightArrow">
            <a:avLst/>
          </a:prstGeom>
          <a:ln w="28575">
            <a:solidFill>
              <a:srgbClr val="F3742C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Экспериментальная группа – студенты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работают с медиатором и «Стивом»</a:t>
            </a:r>
          </a:p>
        </p:txBody>
      </p:sp>
      <p:sp>
        <p:nvSpPr>
          <p:cNvPr id="18" name="Стрелка вправо 17">
            <a:extLst>
              <a:ext uri="{FF2B5EF4-FFF2-40B4-BE49-F238E27FC236}">
                <a16:creationId xmlns:a16="http://schemas.microsoft.com/office/drawing/2014/main" id="{B269D3AA-5500-00B0-3F2C-C1EA9911CBE0}"/>
              </a:ext>
            </a:extLst>
          </p:cNvPr>
          <p:cNvSpPr/>
          <p:nvPr/>
        </p:nvSpPr>
        <p:spPr>
          <a:xfrm>
            <a:off x="1431016" y="2830115"/>
            <a:ext cx="9630683" cy="2043111"/>
          </a:xfrm>
          <a:prstGeom prst="rightArrow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Контрольная группа – студенты</a:t>
            </a:r>
          </a:p>
          <a:p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работают с профессором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AD7CC586-1279-A6D7-82B2-A261D59FB4E8}"/>
              </a:ext>
            </a:extLst>
          </p:cNvPr>
          <p:cNvSpPr/>
          <p:nvPr/>
        </p:nvSpPr>
        <p:spPr>
          <a:xfrm>
            <a:off x="6882266" y="1424781"/>
            <a:ext cx="1461178" cy="3746499"/>
          </a:xfrm>
          <a:prstGeom prst="roundRect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идеи и решения для изменения опыта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03165B25-5420-B6A0-6170-D1F93400B67A}"/>
              </a:ext>
            </a:extLst>
          </p:cNvPr>
          <p:cNvSpPr/>
          <p:nvPr/>
        </p:nvSpPr>
        <p:spPr>
          <a:xfrm>
            <a:off x="8470222" y="1424782"/>
            <a:ext cx="1461178" cy="3746499"/>
          </a:xfrm>
          <a:prstGeom prst="roundRect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создание прототипов, их тест-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ие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сборка презентации по проекту</a:t>
            </a:r>
          </a:p>
          <a:p>
            <a:pPr algn="ctr"/>
            <a:endParaRPr lang="ru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C92478D0-A055-FF2E-FA6B-B93CF74C793C}"/>
              </a:ext>
            </a:extLst>
          </p:cNvPr>
          <p:cNvSpPr/>
          <p:nvPr/>
        </p:nvSpPr>
        <p:spPr>
          <a:xfrm>
            <a:off x="5295900" y="1424781"/>
            <a:ext cx="1461178" cy="3746499"/>
          </a:xfrm>
          <a:prstGeom prst="roundRect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иссл-ие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пользоват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. опыта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BE4A04E-FF3E-3DF1-771E-A10F82933EAB}"/>
              </a:ext>
            </a:extLst>
          </p:cNvPr>
          <p:cNvSpPr/>
          <p:nvPr/>
        </p:nvSpPr>
        <p:spPr>
          <a:xfrm>
            <a:off x="10646229" y="254001"/>
            <a:ext cx="1436914" cy="1117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446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2">
            <a:extLst>
              <a:ext uri="{FF2B5EF4-FFF2-40B4-BE49-F238E27FC236}">
                <a16:creationId xmlns:a16="http://schemas.microsoft.com/office/drawing/2014/main" id="{58859F1D-8294-43F6-93AA-20F16F628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0675" y="1770063"/>
            <a:ext cx="6080125" cy="4673600"/>
          </a:xfrm>
        </p:spPr>
        <p:txBody>
          <a:bodyPr>
            <a:normAutofit/>
          </a:bodyPr>
          <a:lstStyle/>
          <a:p>
            <a:r>
              <a:rPr lang="ru-RU" b="1" dirty="0"/>
              <a:t>«Стив»  умеет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давать экспертные ответы, объяснять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давать обратную связь </a:t>
            </a:r>
            <a:br>
              <a:rPr lang="ru-RU" dirty="0"/>
            </a:br>
            <a:r>
              <a:rPr lang="ru-RU" dirty="0"/>
              <a:t>на наработки студентов</a:t>
            </a:r>
          </a:p>
          <a:p>
            <a:endParaRPr lang="ru-RU" dirty="0"/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0234DFCF-3532-4BC5-876E-68819BDA25BA}"/>
              </a:ext>
            </a:extLst>
          </p:cNvPr>
          <p:cNvSpPr txBox="1">
            <a:spLocks/>
          </p:cNvSpPr>
          <p:nvPr/>
        </p:nvSpPr>
        <p:spPr>
          <a:xfrm>
            <a:off x="7447615" y="1770063"/>
            <a:ext cx="4296149" cy="467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Медиатор</a:t>
            </a:r>
            <a:r>
              <a:rPr lang="ru-RU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организовывает деятельность студентов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поддерживает вовлеченность </a:t>
            </a:r>
            <a:br>
              <a:rPr lang="ru-RU" dirty="0"/>
            </a:br>
            <a:r>
              <a:rPr lang="ru-RU" dirty="0"/>
              <a:t>и мотивацию </a:t>
            </a:r>
          </a:p>
          <a:p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ACEBAFE-0882-58C8-0C96-BFD3B9FE3E5F}"/>
              </a:ext>
            </a:extLst>
          </p:cNvPr>
          <p:cNvSpPr/>
          <p:nvPr/>
        </p:nvSpPr>
        <p:spPr>
          <a:xfrm>
            <a:off x="10646229" y="254001"/>
            <a:ext cx="1436914" cy="1117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452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B74BC7-31C5-4628-8CEB-8C1BEF426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Результаты</a:t>
            </a:r>
            <a:r>
              <a:rPr lang="en-US" b="1" dirty="0"/>
              <a:t> </a:t>
            </a:r>
            <a:r>
              <a:rPr lang="ru-RU" b="1" dirty="0"/>
              <a:t>заданий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D8734B1-EE29-A512-D43B-A47D6DC4695F}"/>
              </a:ext>
            </a:extLst>
          </p:cNvPr>
          <p:cNvSpPr/>
          <p:nvPr/>
        </p:nvSpPr>
        <p:spPr>
          <a:xfrm>
            <a:off x="427512" y="5522026"/>
            <a:ext cx="10930969" cy="1175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DBB1650-32BC-2187-63BD-6A88D6363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80878"/>
              </p:ext>
            </p:extLst>
          </p:nvPr>
        </p:nvGraphicFramePr>
        <p:xfrm>
          <a:off x="427512" y="2152349"/>
          <a:ext cx="11419931" cy="317923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179443">
                  <a:extLst>
                    <a:ext uri="{9D8B030D-6E8A-4147-A177-3AD203B41FA5}">
                      <a16:colId xmlns:a16="http://schemas.microsoft.com/office/drawing/2014/main" val="4144502382"/>
                    </a:ext>
                  </a:extLst>
                </a:gridCol>
                <a:gridCol w="1599057">
                  <a:extLst>
                    <a:ext uri="{9D8B030D-6E8A-4147-A177-3AD203B41FA5}">
                      <a16:colId xmlns:a16="http://schemas.microsoft.com/office/drawing/2014/main" val="3773770281"/>
                    </a:ext>
                  </a:extLst>
                </a:gridCol>
                <a:gridCol w="1350928">
                  <a:extLst>
                    <a:ext uri="{9D8B030D-6E8A-4147-A177-3AD203B41FA5}">
                      <a16:colId xmlns:a16="http://schemas.microsoft.com/office/drawing/2014/main" val="597043066"/>
                    </a:ext>
                  </a:extLst>
                </a:gridCol>
                <a:gridCol w="1709337">
                  <a:extLst>
                    <a:ext uri="{9D8B030D-6E8A-4147-A177-3AD203B41FA5}">
                      <a16:colId xmlns:a16="http://schemas.microsoft.com/office/drawing/2014/main" val="926855397"/>
                    </a:ext>
                  </a:extLst>
                </a:gridCol>
                <a:gridCol w="1273227">
                  <a:extLst>
                    <a:ext uri="{9D8B030D-6E8A-4147-A177-3AD203B41FA5}">
                      <a16:colId xmlns:a16="http://schemas.microsoft.com/office/drawing/2014/main" val="2382372560"/>
                    </a:ext>
                  </a:extLst>
                </a:gridCol>
                <a:gridCol w="1768597">
                  <a:extLst>
                    <a:ext uri="{9D8B030D-6E8A-4147-A177-3AD203B41FA5}">
                      <a16:colId xmlns:a16="http://schemas.microsoft.com/office/drawing/2014/main" val="890332822"/>
                    </a:ext>
                  </a:extLst>
                </a:gridCol>
                <a:gridCol w="1539342">
                  <a:extLst>
                    <a:ext uri="{9D8B030D-6E8A-4147-A177-3AD203B41FA5}">
                      <a16:colId xmlns:a16="http://schemas.microsoft.com/office/drawing/2014/main" val="3706209616"/>
                    </a:ext>
                  </a:extLst>
                </a:gridCol>
              </a:tblGrid>
              <a:tr h="1131499">
                <a:tc>
                  <a:txBody>
                    <a:bodyPr/>
                    <a:lstStyle/>
                    <a:p>
                      <a:r>
                        <a:rPr lang="ru-RU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Оценки по 10-бальной шкале отражают качество работы студентов (в том числе достижение образовательных результатов)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Задание 1. исследование пользовательского опыта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Задание 2. идеи и решения для изменения опыта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Задание 3. создание прототипов, их тестирование, сборка презентации по реализованному проекту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745018"/>
                  </a:ext>
                </a:extLst>
              </a:tr>
              <a:tr h="492750">
                <a:tc>
                  <a:txBody>
                    <a:bodyPr/>
                    <a:lstStyle/>
                    <a:p>
                      <a:endParaRPr lang="ru-RU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Экспериментальная группа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Контрольная группа </a:t>
                      </a:r>
                      <a:endParaRPr lang="ru-RU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Экспериментальная группа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Контрольная группа </a:t>
                      </a:r>
                      <a:endParaRPr lang="ru-RU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Экспериментальная группа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Контрольная группа </a:t>
                      </a:r>
                      <a:endParaRPr lang="ru-RU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436159"/>
                  </a:ext>
                </a:extLst>
              </a:tr>
              <a:tr h="4440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Курс весной 2024</a:t>
                      </a:r>
                      <a:endParaRPr lang="ru-RU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7,19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6,58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7,97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032806"/>
                  </a:ext>
                </a:extLst>
              </a:tr>
              <a:tr h="4440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Курс осенью 2025</a:t>
                      </a:r>
                      <a:endParaRPr lang="ru-RU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7,05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 </a:t>
                      </a:r>
                      <a:endParaRPr lang="ru-RU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7,56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6,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7,28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7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7,18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195930"/>
                  </a:ext>
                </a:extLst>
              </a:tr>
            </a:tbl>
          </a:graphicData>
        </a:graphic>
      </p:graphicFrame>
      <p:sp>
        <p:nvSpPr>
          <p:cNvPr id="5" name="Текст 3">
            <a:extLst>
              <a:ext uri="{FF2B5EF4-FFF2-40B4-BE49-F238E27FC236}">
                <a16:creationId xmlns:a16="http://schemas.microsoft.com/office/drawing/2014/main" id="{B56A0653-4F7E-FC57-7126-7573F554AF9D}"/>
              </a:ext>
            </a:extLst>
          </p:cNvPr>
          <p:cNvSpPr txBox="1">
            <a:spLocks/>
          </p:cNvSpPr>
          <p:nvPr/>
        </p:nvSpPr>
        <p:spPr>
          <a:xfrm>
            <a:off x="427512" y="5812332"/>
            <a:ext cx="10054659" cy="45240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000" dirty="0">
                <a:solidFill>
                  <a:schemeClr val="dk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Проведение курса с ИИ и медиатором не снижает образовательные результаты, но снижает стоимость реализации до 2 раз по сравнению с курсом с профессором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A67764B-7464-1460-E871-93114C996FE1}"/>
              </a:ext>
            </a:extLst>
          </p:cNvPr>
          <p:cNvSpPr/>
          <p:nvPr/>
        </p:nvSpPr>
        <p:spPr>
          <a:xfrm>
            <a:off x="10646229" y="254001"/>
            <a:ext cx="1436914" cy="1117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541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15D7935A-0C50-89FF-2EA6-3E4B54D9D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624d54116f_0_9" title="мозаика 2.png">
            <a:extLst>
              <a:ext uri="{FF2B5EF4-FFF2-40B4-BE49-F238E27FC236}">
                <a16:creationId xmlns:a16="http://schemas.microsoft.com/office/drawing/2014/main" id="{795FC501-7504-6C14-63B3-92425DC32A0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90526" cy="6857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g3624d54116f_0_9">
            <a:extLst>
              <a:ext uri="{FF2B5EF4-FFF2-40B4-BE49-F238E27FC236}">
                <a16:creationId xmlns:a16="http://schemas.microsoft.com/office/drawing/2014/main" id="{B5C5FFC0-900F-7030-D0D2-726D00B03E23}"/>
              </a:ext>
            </a:extLst>
          </p:cNvPr>
          <p:cNvCxnSpPr/>
          <p:nvPr/>
        </p:nvCxnSpPr>
        <p:spPr>
          <a:xfrm rot="10800000" flipH="1">
            <a:off x="7037888" y="5251722"/>
            <a:ext cx="5170500" cy="1200"/>
          </a:xfrm>
          <a:prstGeom prst="straightConnector1">
            <a:avLst/>
          </a:prstGeom>
          <a:noFill/>
          <a:ln w="730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" name="Google Shape;139;g3624d54116f_0_9">
            <a:extLst>
              <a:ext uri="{FF2B5EF4-FFF2-40B4-BE49-F238E27FC236}">
                <a16:creationId xmlns:a16="http://schemas.microsoft.com/office/drawing/2014/main" id="{31096906-41D0-8354-C948-7E29F6CD702C}"/>
              </a:ext>
            </a:extLst>
          </p:cNvPr>
          <p:cNvSpPr txBox="1"/>
          <p:nvPr/>
        </p:nvSpPr>
        <p:spPr>
          <a:xfrm>
            <a:off x="4969876" y="3428999"/>
            <a:ext cx="7041056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От удивления до исследования</a:t>
            </a:r>
            <a:endParaRPr sz="5400" b="1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  <p:extLst>
      <p:ext uri="{BB962C8B-B14F-4D97-AF65-F5344CB8AC3E}">
        <p14:creationId xmlns:p14="http://schemas.microsoft.com/office/powerpoint/2010/main" val="3291265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68869D6-58A6-9DB8-7282-DDDA6A99C6B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253146" name="Google Shape;177;p3">
            <a:extLst>
              <a:ext uri="{FF2B5EF4-FFF2-40B4-BE49-F238E27FC236}">
                <a16:creationId xmlns:a16="http://schemas.microsoft.com/office/drawing/2014/main" id="{F35CDE59-1097-AE0B-0726-F8FE8F9F126D}"/>
              </a:ext>
            </a:extLst>
          </p:cNvPr>
          <p:cNvSpPr txBox="1"/>
          <p:nvPr/>
        </p:nvSpPr>
        <p:spPr bwMode="auto">
          <a:xfrm>
            <a:off x="647267" y="1528719"/>
            <a:ext cx="11749384" cy="5202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None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Студенты </a:t>
            </a:r>
          </a:p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реже доверяют ИИ, чем мы ожидали</a:t>
            </a:r>
          </a:p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предъявляют значительно более высокие требования к ИИ по сравнению с живым преподавателем</a:t>
            </a:r>
          </a:p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говорят об ИИ </a:t>
            </a:r>
          </a:p>
          <a:p>
            <a:pPr marL="457200" lvl="1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иногда как о полноправном собеседнике, решают, брать ли в расчет мнение ИИ</a:t>
            </a:r>
          </a:p>
          <a:p>
            <a:pPr marL="457200" lvl="1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а иногда как о техническом устройстве наподобие калькулятора</a:t>
            </a:r>
          </a:p>
          <a:p>
            <a:pPr marL="0" indent="-28575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04;p3">
            <a:extLst>
              <a:ext uri="{FF2B5EF4-FFF2-40B4-BE49-F238E27FC236}">
                <a16:creationId xmlns:a16="http://schemas.microsoft.com/office/drawing/2014/main" id="{8BCF1B75-487A-767F-AD94-E150E551FE56}"/>
              </a:ext>
            </a:extLst>
          </p:cNvPr>
          <p:cNvSpPr txBox="1"/>
          <p:nvPr/>
        </p:nvSpPr>
        <p:spPr bwMode="auto">
          <a:xfrm>
            <a:off x="203200" y="254001"/>
            <a:ext cx="780042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В п</a:t>
            </a:r>
            <a:r>
              <a:rPr lang="ru-RU" sz="3600" b="1" u="none" strike="noStrike" cap="none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ервых экспериментах в 2024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4" name="Google Shape;105;p3">
            <a:extLst>
              <a:ext uri="{FF2B5EF4-FFF2-40B4-BE49-F238E27FC236}">
                <a16:creationId xmlns:a16="http://schemas.microsoft.com/office/drawing/2014/main" id="{D78F6B30-1FDE-8D2B-46D9-55553799122F}"/>
              </a:ext>
            </a:extLst>
          </p:cNvPr>
          <p:cNvCxnSpPr/>
          <p:nvPr/>
        </p:nvCxnSpPr>
        <p:spPr bwMode="auto"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688752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DD85FA9-4653-7E46-04D9-EBC5E99CEFD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253146" name="Google Shape;177;p3">
            <a:extLst>
              <a:ext uri="{FF2B5EF4-FFF2-40B4-BE49-F238E27FC236}">
                <a16:creationId xmlns:a16="http://schemas.microsoft.com/office/drawing/2014/main" id="{C5B6BCB9-A02B-354C-10EB-18C237F51B7C}"/>
              </a:ext>
            </a:extLst>
          </p:cNvPr>
          <p:cNvSpPr txBox="1"/>
          <p:nvPr/>
        </p:nvSpPr>
        <p:spPr bwMode="auto">
          <a:xfrm>
            <a:off x="647265" y="942054"/>
            <a:ext cx="11107411" cy="1996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None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Провести исследование принятия технологий ИИ акторами образовательного процесса, выявить факторы, определяющие отношение доверия/недоверия к ИИ, проанализировать влияние антропоморфизма технологий ИИ на их восприятие пользователями, выявление предвзятости и когнитивных искажений в отношении ИИ-агентов, изучить феномен социального присутствия при взаимодействии с LLM-чат-ботами 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04;p3">
            <a:extLst>
              <a:ext uri="{FF2B5EF4-FFF2-40B4-BE49-F238E27FC236}">
                <a16:creationId xmlns:a16="http://schemas.microsoft.com/office/drawing/2014/main" id="{CCCAB566-7F77-A483-A0AE-D3B8838A8881}"/>
              </a:ext>
            </a:extLst>
          </p:cNvPr>
          <p:cNvSpPr txBox="1"/>
          <p:nvPr/>
        </p:nvSpPr>
        <p:spPr bwMode="auto">
          <a:xfrm>
            <a:off x="203200" y="254001"/>
            <a:ext cx="780042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Задача 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4" name="Google Shape;105;p3">
            <a:extLst>
              <a:ext uri="{FF2B5EF4-FFF2-40B4-BE49-F238E27FC236}">
                <a16:creationId xmlns:a16="http://schemas.microsoft.com/office/drawing/2014/main" id="{41DFE1CE-ABFE-A994-A342-65C19C1C6D35}"/>
              </a:ext>
            </a:extLst>
          </p:cNvPr>
          <p:cNvCxnSpPr/>
          <p:nvPr/>
        </p:nvCxnSpPr>
        <p:spPr bwMode="auto"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Google Shape;177;p3">
            <a:extLst>
              <a:ext uri="{FF2B5EF4-FFF2-40B4-BE49-F238E27FC236}">
                <a16:creationId xmlns:a16="http://schemas.microsoft.com/office/drawing/2014/main" id="{15421894-753D-EADF-3889-FCC54BF5986D}"/>
              </a:ext>
            </a:extLst>
          </p:cNvPr>
          <p:cNvSpPr txBox="1"/>
          <p:nvPr/>
        </p:nvSpPr>
        <p:spPr bwMode="auto">
          <a:xfrm>
            <a:off x="628427" y="2753140"/>
            <a:ext cx="11915796" cy="454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buNone/>
              <a:defRPr/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Разные теоретические модели:  </a:t>
            </a:r>
          </a:p>
          <a:p>
            <a:pPr lvl="1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defRPr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модель принятия технологий (TAM) [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Davis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1989], </a:t>
            </a:r>
          </a:p>
          <a:p>
            <a:pPr lvl="1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defRPr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декомпозированная теория запланированного поведения (DTPB) [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Taylor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Todd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1995], </a:t>
            </a:r>
          </a:p>
          <a:p>
            <a:pPr lvl="1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defRPr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теория запланированного поведения (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TPB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" sz="1600" dirty="0">
                <a:latin typeface="Calibri" panose="020F0502020204030204" pitchFamily="34" charset="0"/>
                <a:cs typeface="Calibri" panose="020F0502020204030204" pitchFamily="34" charset="0"/>
              </a:rPr>
              <a:t>Ajzen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" sz="1600" dirty="0">
                <a:latin typeface="Calibri" panose="020F0502020204030204" pitchFamily="34" charset="0"/>
                <a:cs typeface="Calibri" panose="020F0502020204030204" pitchFamily="34" charset="0"/>
              </a:rPr>
              <a:t>1991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u-R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defRPr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единая теория принятия и использования технологий (UTAUT) [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Venkatesh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Morris,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Davis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2003] </a:t>
            </a:r>
          </a:p>
          <a:p>
            <a:pPr lvl="1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defRPr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ее доработанный вариант (UTAUT2) [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Venkatesh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James,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Xu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2012], </a:t>
            </a:r>
          </a:p>
          <a:p>
            <a:pPr lvl="1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defRPr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теория диффузии инноваций (IDT) [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Rogers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2003],  </a:t>
            </a:r>
          </a:p>
          <a:p>
            <a:pPr lvl="1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defRPr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модель успеха информационных систем (ISSM) [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DeLone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McLean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2003], </a:t>
            </a:r>
          </a:p>
          <a:p>
            <a:pPr lvl="1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defRPr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модель принятия сервисных роботов (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sRAM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) [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Wirtz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Patterson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Kunz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2018], </a:t>
            </a:r>
          </a:p>
          <a:p>
            <a:pPr lvl="1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>
                <a:schemeClr val="dk1"/>
              </a:buClr>
              <a:buSzPts val="1800"/>
              <a:defRPr/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а также разные интегративные модели, объединяющие элементы разных теорий [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Granic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Marangunic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2019] 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589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3E946DD-5A7E-5F9E-48CC-A19F61A7F9F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104;p3">
            <a:extLst>
              <a:ext uri="{FF2B5EF4-FFF2-40B4-BE49-F238E27FC236}">
                <a16:creationId xmlns:a16="http://schemas.microsoft.com/office/drawing/2014/main" id="{1CC1EFF2-741E-C088-3B9E-0800CCB3F46D}"/>
              </a:ext>
            </a:extLst>
          </p:cNvPr>
          <p:cNvSpPr txBox="1"/>
          <p:nvPr/>
        </p:nvSpPr>
        <p:spPr bwMode="auto">
          <a:xfrm>
            <a:off x="203200" y="254001"/>
            <a:ext cx="780042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 err="1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Антропоморфизация</a:t>
            </a:r>
            <a:r>
              <a:rPr lang="ru-RU" sz="3600" b="1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 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4" name="Google Shape;105;p3">
            <a:extLst>
              <a:ext uri="{FF2B5EF4-FFF2-40B4-BE49-F238E27FC236}">
                <a16:creationId xmlns:a16="http://schemas.microsoft.com/office/drawing/2014/main" id="{DA51EEFF-F622-8445-9D90-C63BB73697A8}"/>
              </a:ext>
            </a:extLst>
          </p:cNvPr>
          <p:cNvCxnSpPr/>
          <p:nvPr/>
        </p:nvCxnSpPr>
        <p:spPr bwMode="auto"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Овал 5">
            <a:extLst>
              <a:ext uri="{FF2B5EF4-FFF2-40B4-BE49-F238E27FC236}">
                <a16:creationId xmlns:a16="http://schemas.microsoft.com/office/drawing/2014/main" id="{FB5F83FC-3360-BF7B-4035-1FE1211EFCD5}"/>
              </a:ext>
            </a:extLst>
          </p:cNvPr>
          <p:cNvSpPr/>
          <p:nvPr/>
        </p:nvSpPr>
        <p:spPr>
          <a:xfrm>
            <a:off x="360412" y="1797430"/>
            <a:ext cx="1435260" cy="1423686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dk1"/>
                </a:solidFill>
                <a:latin typeface="PT Sans"/>
              </a:rPr>
              <a:t>Вектор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D655B02A-5577-4DF4-9FF6-249FA14B37BB}"/>
              </a:ext>
            </a:extLst>
          </p:cNvPr>
          <p:cNvSpPr/>
          <p:nvPr/>
        </p:nvSpPr>
        <p:spPr>
          <a:xfrm>
            <a:off x="1899844" y="1797430"/>
            <a:ext cx="1435260" cy="1423686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err="1">
                <a:solidFill>
                  <a:schemeClr val="dk1"/>
                </a:solidFill>
                <a:latin typeface="PT Sans"/>
              </a:rPr>
              <a:t>Номи</a:t>
            </a:r>
            <a:endParaRPr lang="ru-RU" sz="1600" dirty="0">
              <a:solidFill>
                <a:schemeClr val="dk1"/>
              </a:solidFill>
              <a:latin typeface="PT Sans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41EBBE9F-9651-A8EF-BD5D-16840EBE07FF}"/>
              </a:ext>
            </a:extLst>
          </p:cNvPr>
          <p:cNvSpPr/>
          <p:nvPr/>
        </p:nvSpPr>
        <p:spPr>
          <a:xfrm>
            <a:off x="3439276" y="1797430"/>
            <a:ext cx="1435260" cy="1423686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dk1"/>
                </a:solidFill>
                <a:latin typeface="PT Sans"/>
              </a:rPr>
              <a:t>Серо</a:t>
            </a:r>
          </a:p>
        </p:txBody>
      </p:sp>
      <p:sp>
        <p:nvSpPr>
          <p:cNvPr id="9" name="Открывающая фигурная скобка 8">
            <a:extLst>
              <a:ext uri="{FF2B5EF4-FFF2-40B4-BE49-F238E27FC236}">
                <a16:creationId xmlns:a16="http://schemas.microsoft.com/office/drawing/2014/main" id="{9E96C89C-73A1-06F1-43CD-80BDEA8DAED0}"/>
              </a:ext>
            </a:extLst>
          </p:cNvPr>
          <p:cNvSpPr/>
          <p:nvPr/>
        </p:nvSpPr>
        <p:spPr>
          <a:xfrm rot="16200000">
            <a:off x="2477302" y="1183539"/>
            <a:ext cx="370390" cy="4424083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3546D2-BB46-1157-4DE9-3B549A1D2260}"/>
              </a:ext>
            </a:extLst>
          </p:cNvPr>
          <p:cNvSpPr txBox="1"/>
          <p:nvPr/>
        </p:nvSpPr>
        <p:spPr>
          <a:xfrm>
            <a:off x="972052" y="3580776"/>
            <a:ext cx="3456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Кого больше </a:t>
            </a:r>
            <a:r>
              <a:rPr lang="ru-RU" sz="1600" dirty="0" err="1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антропоморфизируют</a:t>
            </a:r>
            <a:r>
              <a:rPr lang="ru-RU" sz="16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B60CAB-3FEC-2DF9-462B-150B0ABDDBC9}"/>
              </a:ext>
            </a:extLst>
          </p:cNvPr>
          <p:cNvSpPr txBox="1"/>
          <p:nvPr/>
        </p:nvSpPr>
        <p:spPr>
          <a:xfrm>
            <a:off x="6079454" y="1657172"/>
            <a:ext cx="57521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Трехфакторная теория антропоморфизма </a:t>
            </a:r>
            <a:r>
              <a:rPr lang="ru-RU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Epley N., </a:t>
            </a:r>
            <a:r>
              <a:rPr lang="en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Waytz</a:t>
            </a:r>
            <a:r>
              <a:rPr lang="e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A., Cacioppo J.T. On seeing human: A three-factor theory of</a:t>
            </a:r>
          </a:p>
          <a:p>
            <a:pPr>
              <a:buNone/>
            </a:pPr>
            <a:r>
              <a:rPr lang="e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anthropomorphism. Psychological Review. 2007;114(4):864.)</a:t>
            </a:r>
          </a:p>
          <a:p>
            <a:pPr>
              <a:buNone/>
            </a:pPr>
            <a:r>
              <a:rPr lang="e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ru-RU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высокая доступность знаний о самих себе делает это знание наиболее очевидным при вынесении индуктивных суждений о</a:t>
            </a: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других сущностях</a:t>
            </a: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антропоморфизм может служить способом преодоления неопределенности и когнитивной сложности, помогая экономить ресурсы при интерпретации поведения агента и повышая уверенность в предсказаниях его действий</a:t>
            </a: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3. процесс «очеловечивания» компенсирует дефицит социальных связей, вводя в круг общения новых, в том числе цифровых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партнеров</a:t>
            </a:r>
          </a:p>
          <a:p>
            <a:pPr>
              <a:buNone/>
            </a:pPr>
            <a:r>
              <a:rPr lang="ru-RU" sz="16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Теория вежливости </a:t>
            </a:r>
            <a:r>
              <a:rPr lang="ru-RU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Brown P., Levinson S.C. Politeness: Some universals in language usage. Cambridge: Cambridge University</a:t>
            </a:r>
          </a:p>
          <a:p>
            <a:pPr>
              <a:buNone/>
            </a:pPr>
            <a:r>
              <a:rPr lang="e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Press; 1987)</a:t>
            </a:r>
          </a:p>
          <a:p>
            <a:pPr>
              <a:buNone/>
            </a:pPr>
            <a:r>
              <a:rPr lang="ru-RU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Ликосохраняющие</a:t>
            </a:r>
            <a:r>
              <a:rPr lang="ru-RU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речевые акты</a:t>
            </a:r>
          </a:p>
          <a:p>
            <a:pPr>
              <a:buNone/>
            </a:pPr>
            <a:r>
              <a:rPr lang="ru-RU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Ликоугрожающие</a:t>
            </a:r>
            <a:r>
              <a:rPr lang="ru-RU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речевые акты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9D53A2-13F7-A9E9-2578-26E4284FAD60}"/>
              </a:ext>
            </a:extLst>
          </p:cNvPr>
          <p:cNvSpPr txBox="1"/>
          <p:nvPr/>
        </p:nvSpPr>
        <p:spPr>
          <a:xfrm>
            <a:off x="360412" y="4445957"/>
            <a:ext cx="53108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антропоморфизм </a:t>
            </a: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(искусственный/естественный, </a:t>
            </a:r>
            <a:r>
              <a:rPr lang="ru-RU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машиноподобный</a:t>
            </a: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/человекоподобный,</a:t>
            </a: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неосознанный/осознанный, неестественный/реалистичный);</a:t>
            </a:r>
          </a:p>
          <a:p>
            <a:pPr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одушевленность </a:t>
            </a: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(мертвый/живой, пассивный/активный, механический/органический,</a:t>
            </a: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безынициативный/интерактивный);</a:t>
            </a:r>
          </a:p>
          <a:p>
            <a:pPr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воспринимаемая разумность </a:t>
            </a: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(некомпетентный/компетентный,</a:t>
            </a: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неосведомленный/информированный, безответственный/ответственный,</a:t>
            </a: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неразумный/рассудительный).</a:t>
            </a:r>
          </a:p>
        </p:txBody>
      </p:sp>
    </p:spTree>
    <p:extLst>
      <p:ext uri="{BB962C8B-B14F-4D97-AF65-F5344CB8AC3E}">
        <p14:creationId xmlns:p14="http://schemas.microsoft.com/office/powerpoint/2010/main" val="496563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AE9027C-0065-CF76-6BE8-DC135162E1F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104;p3">
            <a:extLst>
              <a:ext uri="{FF2B5EF4-FFF2-40B4-BE49-F238E27FC236}">
                <a16:creationId xmlns:a16="http://schemas.microsoft.com/office/drawing/2014/main" id="{79413F00-E0FB-103A-2BDC-A94995931284}"/>
              </a:ext>
            </a:extLst>
          </p:cNvPr>
          <p:cNvSpPr txBox="1"/>
          <p:nvPr/>
        </p:nvSpPr>
        <p:spPr bwMode="auto">
          <a:xfrm>
            <a:off x="203200" y="254001"/>
            <a:ext cx="780042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 err="1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Антропоморфизация</a:t>
            </a:r>
            <a:r>
              <a:rPr lang="ru-RU" sz="3600" b="1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 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4" name="Google Shape;105;p3">
            <a:extLst>
              <a:ext uri="{FF2B5EF4-FFF2-40B4-BE49-F238E27FC236}">
                <a16:creationId xmlns:a16="http://schemas.microsoft.com/office/drawing/2014/main" id="{875F8035-812F-E0E4-FE1C-9BED91D73573}"/>
              </a:ext>
            </a:extLst>
          </p:cNvPr>
          <p:cNvCxnSpPr/>
          <p:nvPr/>
        </p:nvCxnSpPr>
        <p:spPr bwMode="auto"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A6B14E7-539D-ABA7-C248-7230DC7B086D}"/>
              </a:ext>
            </a:extLst>
          </p:cNvPr>
          <p:cNvSpPr txBox="1"/>
          <p:nvPr/>
        </p:nvSpPr>
        <p:spPr>
          <a:xfrm>
            <a:off x="199290" y="1629030"/>
            <a:ext cx="1110008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Вектор продемонстрировал заметно более высокие средние оценки антропоморфизма по сравнению с Серо</a:t>
            </a:r>
            <a:r>
              <a:rPr lang="en" sz="20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и </a:t>
            </a:r>
            <a:r>
              <a:rPr lang="ru-RU" sz="2000" dirty="0" err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Номи</a:t>
            </a:r>
            <a:endParaRPr lang="en" sz="20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buNone/>
            </a:pP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Корреляционный и компонентный анализ указывают, что общий индекс антропоморфизма не</a:t>
            </a:r>
          </a:p>
          <a:p>
            <a:pPr>
              <a:buNone/>
            </a:pP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тождествен одушевленности и воспринимаемой разумности.</a:t>
            </a:r>
          </a:p>
          <a:p>
            <a:pPr>
              <a:buNone/>
            </a:pPr>
            <a:endParaRPr lang="ru-RU" sz="20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buNone/>
            </a:pP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Выводы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проектирование интерфейсов должно рассматривать антропоморфизм как многомерный феномен: целесообразно разделять сигналы «человекообразности» и сигналы разумности и намеренно комбинировать их в зависимости от задач (эмпатические сценарии против информационно-фактических)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управляемая поведенческая «несовершенность» (элементы человеческой неточности или прямолинейности) может усилить ощущение социального присутствия, но одновременно снижать восприятие компетентности; это важно учитывать при выборе тональности для образовательных ИИ-агентов</a:t>
            </a:r>
          </a:p>
        </p:txBody>
      </p:sp>
    </p:spTree>
    <p:extLst>
      <p:ext uri="{BB962C8B-B14F-4D97-AF65-F5344CB8AC3E}">
        <p14:creationId xmlns:p14="http://schemas.microsoft.com/office/powerpoint/2010/main" val="2038653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5E47600-ABA5-05F2-7F76-21D7260784C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104;p3">
            <a:extLst>
              <a:ext uri="{FF2B5EF4-FFF2-40B4-BE49-F238E27FC236}">
                <a16:creationId xmlns:a16="http://schemas.microsoft.com/office/drawing/2014/main" id="{DB77CD89-F1B4-75A5-FF15-20B74D7AF9DA}"/>
              </a:ext>
            </a:extLst>
          </p:cNvPr>
          <p:cNvSpPr txBox="1"/>
          <p:nvPr/>
        </p:nvSpPr>
        <p:spPr bwMode="auto">
          <a:xfrm>
            <a:off x="203200" y="254001"/>
            <a:ext cx="1000097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Стратегии защиты преподавателей 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4" name="Google Shape;105;p3">
            <a:extLst>
              <a:ext uri="{FF2B5EF4-FFF2-40B4-BE49-F238E27FC236}">
                <a16:creationId xmlns:a16="http://schemas.microsoft.com/office/drawing/2014/main" id="{60AC364B-725C-EAB6-FC1E-B90B71E1D145}"/>
              </a:ext>
            </a:extLst>
          </p:cNvPr>
          <p:cNvCxnSpPr/>
          <p:nvPr/>
        </p:nvCxnSpPr>
        <p:spPr bwMode="auto"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0D3E093-997A-4970-3891-6F1D714889DB}"/>
              </a:ext>
            </a:extLst>
          </p:cNvPr>
          <p:cNvSpPr txBox="1"/>
          <p:nvPr/>
        </p:nvSpPr>
        <p:spPr>
          <a:xfrm>
            <a:off x="302272" y="2854233"/>
            <a:ext cx="104353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Концептуализация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Драматургическая теория И. Гофмана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Двойная работа профессиональных сообществ: выполнение собственно рабочих задач и работа по управлению впечатлениями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Frontstage - </a:t>
            </a: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стандартный набор выразительных приемов и инструментов, намеренно или невольно выработанных индивидом в ходе исполнения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Backstage - </a:t>
            </a: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пространство выполнения собственно профессиональных задач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Границы переднего и заднего планов могут быть нарушены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66A547-3249-DFED-C222-7DE7C85C23CC}"/>
              </a:ext>
            </a:extLst>
          </p:cNvPr>
          <p:cNvSpPr txBox="1"/>
          <p:nvPr/>
        </p:nvSpPr>
        <p:spPr>
          <a:xfrm>
            <a:off x="302272" y="1079688"/>
            <a:ext cx="104353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Проблематизация </a:t>
            </a:r>
          </a:p>
          <a:p>
            <a:pPr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Тревожность/агрессия преподавателей из-за способности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выполнять профессиональные функции преподавателя-эксперта (предоставлять обратную связь, создавать учебный контент)</a:t>
            </a:r>
          </a:p>
          <a:p>
            <a:pPr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Как открытое признание использования ИИ, так и отказ от применения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могут угрожать статусу преподавателя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5B7C1C-365B-0DED-CB67-185DBCD5BD44}"/>
              </a:ext>
            </a:extLst>
          </p:cNvPr>
          <p:cNvSpPr txBox="1"/>
          <p:nvPr/>
        </p:nvSpPr>
        <p:spPr>
          <a:xfrm>
            <a:off x="302272" y="5475163"/>
            <a:ext cx="10623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Методы</a:t>
            </a:r>
          </a:p>
          <a:p>
            <a:pPr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Качественный контент-анализ открытых подкастов и видеоматериалов конференций (47 материалов</a:t>
            </a:r>
            <a:r>
              <a:rPr lang="e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buNone/>
            </a:pPr>
            <a:r>
              <a:rPr lang="ru-RU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Полуструктурированные</a:t>
            </a: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интервью с преподавателями (24 интервью)</a:t>
            </a:r>
          </a:p>
        </p:txBody>
      </p:sp>
    </p:spTree>
    <p:extLst>
      <p:ext uri="{BB962C8B-B14F-4D97-AF65-F5344CB8AC3E}">
        <p14:creationId xmlns:p14="http://schemas.microsoft.com/office/powerpoint/2010/main" val="2329968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719EA10-CBCD-E807-6D20-B82FD0825AA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104;p3">
            <a:extLst>
              <a:ext uri="{FF2B5EF4-FFF2-40B4-BE49-F238E27FC236}">
                <a16:creationId xmlns:a16="http://schemas.microsoft.com/office/drawing/2014/main" id="{549C028D-87FA-B690-B42E-6C54B0B383EB}"/>
              </a:ext>
            </a:extLst>
          </p:cNvPr>
          <p:cNvSpPr txBox="1"/>
          <p:nvPr/>
        </p:nvSpPr>
        <p:spPr bwMode="auto">
          <a:xfrm>
            <a:off x="203200" y="254001"/>
            <a:ext cx="1000097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Стратегии защиты преподавателей 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4" name="Google Shape;105;p3">
            <a:extLst>
              <a:ext uri="{FF2B5EF4-FFF2-40B4-BE49-F238E27FC236}">
                <a16:creationId xmlns:a16="http://schemas.microsoft.com/office/drawing/2014/main" id="{96E8417D-0FE5-2167-6CBB-B9DB5C6C202D}"/>
              </a:ext>
            </a:extLst>
          </p:cNvPr>
          <p:cNvCxnSpPr/>
          <p:nvPr/>
        </p:nvCxnSpPr>
        <p:spPr bwMode="auto"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D5C80FF-B8A9-F995-9E22-A065F28396E1}"/>
              </a:ext>
            </a:extLst>
          </p:cNvPr>
          <p:cNvSpPr txBox="1"/>
          <p:nvPr/>
        </p:nvSpPr>
        <p:spPr>
          <a:xfrm>
            <a:off x="302271" y="1596628"/>
            <a:ext cx="974306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Стратегии символической защиты </a:t>
            </a:r>
          </a:p>
          <a:p>
            <a:pPr>
              <a:buNone/>
            </a:pPr>
            <a:endParaRPr lang="ru-RU" sz="200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«развенчания мифов» или «вскрытие реальности» 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интенсификация труда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возрастания значимости человек-человеческих отношений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697FEB-6AB5-9473-04A5-A3B86F70DB6B}"/>
              </a:ext>
            </a:extLst>
          </p:cNvPr>
          <p:cNvSpPr txBox="1"/>
          <p:nvPr/>
        </p:nvSpPr>
        <p:spPr>
          <a:xfrm>
            <a:off x="302271" y="3924181"/>
            <a:ext cx="974306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Стратегии репозиционирования профессии</a:t>
            </a:r>
          </a:p>
          <a:p>
            <a:pPr>
              <a:buNone/>
            </a:pPr>
            <a:endParaRPr lang="ru-RU" sz="200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преподаватель как наставник-психолог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преподаватель как проводник в профессию с 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преподаватель как со-мыслитель или со-исследователь</a:t>
            </a:r>
          </a:p>
        </p:txBody>
      </p:sp>
    </p:spTree>
    <p:extLst>
      <p:ext uri="{BB962C8B-B14F-4D97-AF65-F5344CB8AC3E}">
        <p14:creationId xmlns:p14="http://schemas.microsoft.com/office/powerpoint/2010/main" val="2808283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C07378AB-DCC1-9AD0-0072-F7F373C0A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624d54116f_0_9" title="мозаика 2.png">
            <a:extLst>
              <a:ext uri="{FF2B5EF4-FFF2-40B4-BE49-F238E27FC236}">
                <a16:creationId xmlns:a16="http://schemas.microsoft.com/office/drawing/2014/main" id="{2E277857-D599-7FBF-E32E-67CBA190B2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90526" cy="6857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g3624d54116f_0_9">
            <a:extLst>
              <a:ext uri="{FF2B5EF4-FFF2-40B4-BE49-F238E27FC236}">
                <a16:creationId xmlns:a16="http://schemas.microsoft.com/office/drawing/2014/main" id="{2E518AB5-F4ED-49ED-DDA0-18513400C13F}"/>
              </a:ext>
            </a:extLst>
          </p:cNvPr>
          <p:cNvCxnSpPr/>
          <p:nvPr/>
        </p:nvCxnSpPr>
        <p:spPr>
          <a:xfrm rot="10800000" flipH="1">
            <a:off x="7037888" y="5251722"/>
            <a:ext cx="5170500" cy="1200"/>
          </a:xfrm>
          <a:prstGeom prst="straightConnector1">
            <a:avLst/>
          </a:prstGeom>
          <a:noFill/>
          <a:ln w="730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" name="Google Shape;139;g3624d54116f_0_9">
            <a:extLst>
              <a:ext uri="{FF2B5EF4-FFF2-40B4-BE49-F238E27FC236}">
                <a16:creationId xmlns:a16="http://schemas.microsoft.com/office/drawing/2014/main" id="{9564D4CC-25EF-EC33-48E5-85CF4437DD6C}"/>
              </a:ext>
            </a:extLst>
          </p:cNvPr>
          <p:cNvSpPr txBox="1"/>
          <p:nvPr/>
        </p:nvSpPr>
        <p:spPr>
          <a:xfrm>
            <a:off x="3853542" y="3311433"/>
            <a:ext cx="8183515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dirty="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Подход к проектированию</a:t>
            </a:r>
            <a:endParaRPr sz="5400" b="1" dirty="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  <p:extLst>
      <p:ext uri="{BB962C8B-B14F-4D97-AF65-F5344CB8AC3E}">
        <p14:creationId xmlns:p14="http://schemas.microsoft.com/office/powerpoint/2010/main" val="617530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936987579" name="Прямая соединительная линия 57"/>
          <p:cNvCxnSpPr>
            <a:cxnSpLocks/>
          </p:cNvCxnSpPr>
          <p:nvPr/>
        </p:nvCxnSpPr>
        <p:spPr bwMode="auto">
          <a:xfrm>
            <a:off x="906354" y="0"/>
            <a:ext cx="0" cy="68580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olid"/>
            <a:round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</p:cxnSp>
      <p:grpSp>
        <p:nvGrpSpPr>
          <p:cNvPr id="1565073709" name="Группа 32"/>
          <p:cNvGrpSpPr/>
          <p:nvPr/>
        </p:nvGrpSpPr>
        <p:grpSpPr bwMode="auto">
          <a:xfrm>
            <a:off x="1566078" y="492043"/>
            <a:ext cx="9246490" cy="853949"/>
            <a:chOff x="0" y="0"/>
            <a:chExt cx="9246490" cy="853949"/>
          </a:xfrm>
        </p:grpSpPr>
        <p:sp>
          <p:nvSpPr>
            <p:cNvPr id="2093722344" name="TextBox 33"/>
            <p:cNvSpPr txBox="1"/>
            <p:nvPr/>
          </p:nvSpPr>
          <p:spPr bwMode="auto">
            <a:xfrm>
              <a:off x="0" y="386518"/>
              <a:ext cx="9246490" cy="4674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71435" tIns="71435" rIns="71435" bIns="71435" numCol="1" spcCol="38099" rtlCol="0" anchor="t">
              <a:spAutoFit/>
            </a:bodyPr>
            <a:lstStyle/>
            <a:p>
              <a:pPr>
                <a:lnSpc>
                  <a:spcPct val="80000"/>
                </a:lnSpc>
                <a:spcBef>
                  <a:spcPts val="599"/>
                </a:spcBef>
                <a:defRPr/>
              </a:pPr>
              <a:r>
                <a:rPr lang="ru-RU" sz="2000">
                  <a:latin typeface="Calibri" panose="020F0502020204030204" pitchFamily="34" charset="0"/>
                  <a:cs typeface="Calibri" panose="020F0502020204030204" pitchFamily="34" charset="0"/>
                </a:rPr>
                <a:t>Конструктивизм: человек в деятельности формирует собственное знание</a:t>
              </a:r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55659059" name="Прямоугольник 34"/>
            <p:cNvSpPr/>
            <p:nvPr/>
          </p:nvSpPr>
          <p:spPr bwMode="auto">
            <a:xfrm>
              <a:off x="0" y="0"/>
              <a:ext cx="3767378" cy="445635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l">
                <a:lnSpc>
                  <a:spcPct val="80000"/>
                </a:lnSpc>
                <a:defRPr/>
              </a:pPr>
              <a:r>
                <a:rPr lang="ru-RU" sz="2800">
                  <a:solidFill>
                    <a:srgbClr val="F3742C"/>
                  </a:solidFill>
                  <a:latin typeface="Calibri" panose="020F0502020204030204" pitchFamily="34" charset="0"/>
                  <a:ea typeface="Gramatika"/>
                  <a:cs typeface="Calibri" panose="020F0502020204030204" pitchFamily="34" charset="0"/>
                </a:rPr>
                <a:t>ОСНОВАНИЯ ПОДХОДА</a:t>
              </a:r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66628533" name="Группа 35"/>
          <p:cNvGrpSpPr/>
          <p:nvPr/>
        </p:nvGrpSpPr>
        <p:grpSpPr bwMode="auto">
          <a:xfrm>
            <a:off x="1566077" y="2185944"/>
            <a:ext cx="9719555" cy="4749380"/>
            <a:chOff x="4190994" y="7888410"/>
            <a:chExt cx="12059446" cy="6594723"/>
          </a:xfrm>
        </p:grpSpPr>
        <p:sp>
          <p:nvSpPr>
            <p:cNvPr id="1695780422" name="TextBox 36"/>
            <p:cNvSpPr txBox="1"/>
            <p:nvPr/>
          </p:nvSpPr>
          <p:spPr bwMode="auto">
            <a:xfrm>
              <a:off x="4262797" y="8032657"/>
              <a:ext cx="11987643" cy="6450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71435" tIns="71435" rIns="71435" bIns="71435" numCol="1" spcCol="38099" rtlCol="0" anchor="t">
              <a:spAutoFit/>
            </a:bodyPr>
            <a:lstStyle/>
            <a:p>
              <a:pPr marL="457200" indent="-457200">
                <a:lnSpc>
                  <a:spcPts val="2653"/>
                </a:lnSpc>
                <a:buFont typeface="+mj-lt"/>
                <a:buAutoNum type="arabicPeriod"/>
                <a:defRPr/>
              </a:pPr>
              <a:r>
                <a:rPr lang="ru-RU" sz="2000" dirty="0">
                  <a:latin typeface="Calibri" panose="020F0502020204030204" pitchFamily="34" charset="0"/>
                  <a:ea typeface="Arimo"/>
                  <a:cs typeface="Calibri" panose="020F0502020204030204" pitchFamily="34" charset="0"/>
                </a:rPr>
                <a:t>Образовательные </a:t>
              </a:r>
              <a:r>
                <a:rPr lang="ru-RU" sz="2000" dirty="0">
                  <a:solidFill>
                    <a:srgbClr val="FF66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цели</a:t>
              </a:r>
              <a:r>
                <a:rPr lang="ru-RU" sz="2000" dirty="0">
                  <a:latin typeface="Calibri" panose="020F0502020204030204" pitchFamily="34" charset="0"/>
                  <a:ea typeface="Arimo"/>
                  <a:cs typeface="Calibri" panose="020F0502020204030204" pitchFamily="34" charset="0"/>
                </a:rPr>
                <a:t> курса</a:t>
              </a:r>
              <a:endParaRPr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457200" indent="-457200">
                <a:lnSpc>
                  <a:spcPts val="2653"/>
                </a:lnSpc>
                <a:buFont typeface="+mj-lt"/>
                <a:buAutoNum type="arabicPeriod"/>
                <a:defRPr/>
              </a:pPr>
              <a:r>
                <a:rPr lang="ru-RU" sz="2000" dirty="0">
                  <a:latin typeface="Calibri" panose="020F0502020204030204" pitchFamily="34" charset="0"/>
                  <a:ea typeface="Arimo"/>
                  <a:cs typeface="Calibri" panose="020F0502020204030204" pitchFamily="34" charset="0"/>
                </a:rPr>
                <a:t>Выбор образовательной модели, </a:t>
              </a:r>
              <a:r>
                <a:rPr lang="ru-RU" sz="2000" dirty="0">
                  <a:solidFill>
                    <a:srgbClr val="FF66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проектирование деятельности </a:t>
              </a:r>
              <a:r>
                <a:rPr lang="ru-RU" sz="2000" dirty="0">
                  <a:latin typeface="Calibri" panose="020F0502020204030204" pitchFamily="34" charset="0"/>
                  <a:ea typeface="Arimo"/>
                  <a:cs typeface="Calibri" panose="020F0502020204030204" pitchFamily="34" charset="0"/>
                </a:rPr>
                <a:t>студентов и преподавателя/медиатора </a:t>
              </a:r>
              <a:endParaRPr lang="ru-RU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457200" indent="-457200">
                <a:lnSpc>
                  <a:spcPts val="2653"/>
                </a:lnSpc>
                <a:buFont typeface="+mj-lt"/>
                <a:buAutoNum type="arabicPeriod"/>
                <a:defRPr/>
              </a:pPr>
              <a:r>
                <a:rPr lang="ru-RU" sz="2000" dirty="0">
                  <a:latin typeface="Calibri" panose="020F0502020204030204" pitchFamily="34" charset="0"/>
                  <a:ea typeface="Arimo"/>
                  <a:cs typeface="Calibri" panose="020F0502020204030204" pitchFamily="34" charset="0"/>
                </a:rPr>
                <a:t>Проблематика в достижении цели</a:t>
              </a:r>
              <a:endParaRPr lang="ru-RU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457200" indent="-457200">
                <a:lnSpc>
                  <a:spcPts val="2653"/>
                </a:lnSpc>
                <a:buFont typeface="+mj-lt"/>
                <a:buAutoNum type="arabicPeriod"/>
                <a:defRPr/>
              </a:pPr>
              <a:r>
                <a:rPr lang="ru-RU" sz="2000" i="1" dirty="0">
                  <a:latin typeface="Calibri" panose="020F0502020204030204" pitchFamily="34" charset="0"/>
                  <a:ea typeface="Arimo"/>
                  <a:cs typeface="Calibri" panose="020F0502020204030204" pitchFamily="34" charset="0"/>
                </a:rPr>
                <a:t>Концептуализация и </a:t>
              </a:r>
              <a:r>
                <a:rPr lang="ru-RU" sz="2000" i="1" dirty="0" err="1">
                  <a:latin typeface="Calibri" panose="020F0502020204030204" pitchFamily="34" charset="0"/>
                  <a:ea typeface="Arimo"/>
                  <a:cs typeface="Calibri" panose="020F0502020204030204" pitchFamily="34" charset="0"/>
                </a:rPr>
                <a:t>операционализация</a:t>
              </a:r>
              <a:r>
                <a:rPr lang="ru-RU" sz="2000" i="1" dirty="0">
                  <a:latin typeface="Calibri" panose="020F0502020204030204" pitchFamily="34" charset="0"/>
                  <a:ea typeface="Arimo"/>
                  <a:cs typeface="Calibri" panose="020F0502020204030204" pitchFamily="34" charset="0"/>
                </a:rPr>
                <a:t> эксперимента, определение гипотезы эксперимента </a:t>
              </a:r>
              <a:endParaRPr lang="ru-RU" sz="2000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457200" indent="-457200">
                <a:lnSpc>
                  <a:spcPts val="2653"/>
                </a:lnSpc>
                <a:buFont typeface="+mj-lt"/>
                <a:buAutoNum type="arabicPeriod"/>
                <a:defRPr/>
              </a:pPr>
              <a:r>
                <a:rPr lang="ru-RU" sz="2000" dirty="0">
                  <a:latin typeface="Calibri" panose="020F0502020204030204" pitchFamily="34" charset="0"/>
                  <a:ea typeface="Arimo"/>
                  <a:cs typeface="Calibri" panose="020F0502020204030204" pitchFamily="34" charset="0"/>
                </a:rPr>
                <a:t>Определение способностей и знаний ИИ-персоны</a:t>
              </a:r>
              <a:endParaRPr lang="ru-RU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457200" indent="-457200">
                <a:lnSpc>
                  <a:spcPts val="2653"/>
                </a:lnSpc>
                <a:buFont typeface="+mj-lt"/>
                <a:buAutoNum type="arabicPeriod"/>
                <a:defRPr/>
              </a:pPr>
              <a:r>
                <a:rPr lang="ru-RU" sz="2000" dirty="0">
                  <a:latin typeface="Calibri" panose="020F0502020204030204" pitchFamily="34" charset="0"/>
                  <a:ea typeface="Arimo"/>
                  <a:cs typeface="Calibri" panose="020F0502020204030204" pitchFamily="34" charset="0"/>
                </a:rPr>
                <a:t>Разработка дизайна эксперимента </a:t>
              </a:r>
              <a:endParaRPr lang="ru-RU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457200" indent="-457200">
                <a:lnSpc>
                  <a:spcPts val="2653"/>
                </a:lnSpc>
                <a:buFont typeface="+mj-lt"/>
                <a:buAutoNum type="arabicPeriod"/>
                <a:defRPr/>
              </a:pPr>
              <a:r>
                <a:rPr lang="ru-RU" sz="2000" dirty="0">
                  <a:latin typeface="Calibri" panose="020F0502020204030204" pitchFamily="34" charset="0"/>
                  <a:ea typeface="Arimo"/>
                  <a:cs typeface="Calibri" panose="020F0502020204030204" pitchFamily="34" charset="0"/>
                </a:rPr>
                <a:t>Определение инженерной задачи </a:t>
              </a:r>
              <a:endParaRPr lang="ru-RU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42950" lvl="2" indent="-342900">
                <a:lnSpc>
                  <a:spcPts val="2653"/>
                </a:lnSpc>
                <a:buFont typeface="Arial"/>
                <a:buChar char="•"/>
                <a:defRPr/>
              </a:pPr>
              <a:r>
                <a:rPr lang="ru-RU" sz="2000" dirty="0">
                  <a:latin typeface="Calibri" panose="020F0502020204030204" pitchFamily="34" charset="0"/>
                  <a:ea typeface="Arimo"/>
                  <a:cs typeface="Calibri" panose="020F0502020204030204" pitchFamily="34" charset="0"/>
                </a:rPr>
                <a:t>Подбор материалов для кастомизации ИИ</a:t>
              </a:r>
              <a:endParaRPr lang="ru-RU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42950" lvl="2" indent="-342900">
                <a:lnSpc>
                  <a:spcPts val="2653"/>
                </a:lnSpc>
                <a:buFont typeface="Arial"/>
                <a:buChar char="•"/>
                <a:defRPr/>
              </a:pPr>
              <a:r>
                <a:rPr lang="ru-RU" sz="2000" dirty="0">
                  <a:latin typeface="Calibri" panose="020F0502020204030204" pitchFamily="34" charset="0"/>
                  <a:ea typeface="Arimo"/>
                  <a:cs typeface="Calibri" panose="020F0502020204030204" pitchFamily="34" charset="0"/>
                </a:rPr>
                <a:t>Подготовка ИИ-персон </a:t>
              </a:r>
              <a:endParaRPr lang="ru-RU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457200" indent="-457200">
                <a:lnSpc>
                  <a:spcPts val="2653"/>
                </a:lnSpc>
                <a:buFont typeface="+mj-lt"/>
                <a:buAutoNum type="arabicPeriod"/>
                <a:defRPr/>
              </a:pPr>
              <a:r>
                <a:rPr lang="ru-RU" sz="2000" dirty="0">
                  <a:latin typeface="Calibri" panose="020F0502020204030204" pitchFamily="34" charset="0"/>
                  <a:ea typeface="Arimo"/>
                  <a:cs typeface="Calibri" panose="020F0502020204030204" pitchFamily="34" charset="0"/>
                </a:rPr>
                <a:t>Подбор инструментов измерения </a:t>
              </a:r>
              <a:endParaRPr lang="ru-RU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457200" indent="-457200">
                <a:lnSpc>
                  <a:spcPts val="2653"/>
                </a:lnSpc>
                <a:buFont typeface="+mj-lt"/>
                <a:buAutoNum type="arabicPeriod"/>
                <a:defRPr/>
              </a:pPr>
              <a:r>
                <a:rPr lang="ru-RU" sz="2000" dirty="0">
                  <a:latin typeface="Calibri" panose="020F0502020204030204" pitchFamily="34" charset="0"/>
                  <a:ea typeface="Arimo"/>
                  <a:cs typeface="Calibri" panose="020F0502020204030204" pitchFamily="34" charset="0"/>
                </a:rPr>
                <a:t>Разработка материалов курс</a:t>
              </a:r>
              <a:r>
                <a:rPr lang="ru-RU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а </a:t>
              </a:r>
              <a:endParaRPr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69823092" name="Прямоугольник 37"/>
            <p:cNvSpPr/>
            <p:nvPr/>
          </p:nvSpPr>
          <p:spPr bwMode="auto">
            <a:xfrm>
              <a:off x="4190994" y="7888410"/>
              <a:ext cx="278847" cy="373496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l">
                <a:lnSpc>
                  <a:spcPct val="80000"/>
                </a:lnSpc>
                <a:defRPr/>
              </a:pPr>
              <a:r>
                <a:rPr lang="en-US" b="1">
                  <a:latin typeface="Calibri" panose="020F0502020204030204" pitchFamily="34" charset="0"/>
                  <a:ea typeface="Gramatika"/>
                  <a:cs typeface="Calibri" panose="020F0502020204030204" pitchFamily="34" charset="0"/>
                </a:rPr>
                <a:t> </a:t>
              </a:r>
              <a:endParaRPr lang="ru-RU" b="1">
                <a:latin typeface="Calibri" panose="020F0502020204030204" pitchFamily="34" charset="0"/>
                <a:ea typeface="Gramatika"/>
                <a:cs typeface="Calibri" panose="020F0502020204030204" pitchFamily="34" charset="0"/>
              </a:endParaRPr>
            </a:p>
          </p:txBody>
        </p:sp>
      </p:grpSp>
      <p:grpSp>
        <p:nvGrpSpPr>
          <p:cNvPr id="441255723" name="Группа 38"/>
          <p:cNvGrpSpPr/>
          <p:nvPr/>
        </p:nvGrpSpPr>
        <p:grpSpPr bwMode="auto">
          <a:xfrm>
            <a:off x="1598823" y="1882051"/>
            <a:ext cx="8103028" cy="4832171"/>
            <a:chOff x="4210471" y="7799581"/>
            <a:chExt cx="4634253" cy="4832171"/>
          </a:xfrm>
        </p:grpSpPr>
        <p:sp>
          <p:nvSpPr>
            <p:cNvPr id="2135972918" name="Прямоугольник 15"/>
            <p:cNvSpPr/>
            <p:nvPr/>
          </p:nvSpPr>
          <p:spPr bwMode="auto">
            <a:xfrm>
              <a:off x="4210471" y="7799581"/>
              <a:ext cx="3472042" cy="445635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l">
                <a:lnSpc>
                  <a:spcPct val="80000"/>
                </a:lnSpc>
                <a:defRPr/>
              </a:pPr>
              <a:r>
                <a:rPr lang="ru-RU" sz="2800" dirty="0">
                  <a:solidFill>
                    <a:srgbClr val="F3742C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ЛОГИКА РАЗРАБОТКИ ЭКСПЕРИМЕНТА</a:t>
              </a:r>
              <a:endParaRPr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14527744" name="TextBox 44"/>
            <p:cNvSpPr txBox="1"/>
            <p:nvPr/>
          </p:nvSpPr>
          <p:spPr bwMode="auto">
            <a:xfrm>
              <a:off x="5813416" y="12179709"/>
              <a:ext cx="3031308" cy="4520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71435" tIns="71435" rIns="71435" bIns="71435" numCol="1" spcCol="38099" rtlCol="0" anchor="t">
              <a:spAutoFit/>
            </a:bodyPr>
            <a:lstStyle/>
            <a:p>
              <a:pPr>
                <a:defRPr/>
              </a:pPr>
              <a:r>
                <a:rPr lang="ru-RU" sz="2000">
                  <a:latin typeface="Calibri" panose="020F0502020204030204" pitchFamily="34" charset="0"/>
                  <a:ea typeface="Gramatika"/>
                  <a:cs typeface="Calibri" panose="020F0502020204030204" pitchFamily="34" charset="0"/>
                </a:rPr>
                <a:t> </a:t>
              </a:r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04990964" name="Овал 47"/>
          <p:cNvSpPr/>
          <p:nvPr/>
        </p:nvSpPr>
        <p:spPr bwMode="auto">
          <a:xfrm>
            <a:off x="659316" y="318757"/>
            <a:ext cx="468000" cy="430083"/>
          </a:xfrm>
          <a:prstGeom prst="ellipse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round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71435" tIns="71435" rIns="71435" bIns="71435" numCol="1" spcCol="38099" rtlCol="0" anchor="ctr">
            <a:spAutoFit/>
          </a:bodyPr>
          <a:lstStyle/>
          <a:p>
            <a:pPr marL="0" marR="0" indent="0" algn="r" defTabSz="8215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05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Helvetica Neue Medium"/>
              <a:cs typeface="Arial"/>
            </a:endParaRPr>
          </a:p>
        </p:txBody>
      </p:sp>
      <p:sp>
        <p:nvSpPr>
          <p:cNvPr id="1563750174" name="Овал 49"/>
          <p:cNvSpPr/>
          <p:nvPr/>
        </p:nvSpPr>
        <p:spPr bwMode="auto">
          <a:xfrm>
            <a:off x="671262" y="1857909"/>
            <a:ext cx="468000" cy="430083"/>
          </a:xfrm>
          <a:prstGeom prst="ellipse">
            <a:avLst/>
          </a:prstGeom>
          <a:solidFill>
            <a:srgbClr val="FF6600"/>
          </a:solidFill>
          <a:ln w="25400" cap="flat">
            <a:solidFill>
              <a:srgbClr val="FF6600"/>
            </a:solidFill>
            <a:prstDash val="solid"/>
            <a:round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71435" tIns="71435" rIns="71435" bIns="71435" numCol="1" spcCol="38099" rtlCol="0" anchor="ctr">
            <a:spAutoFit/>
          </a:bodyPr>
          <a:lstStyle/>
          <a:p>
            <a:pPr marL="0" marR="0" indent="0" algn="r" defTabSz="8215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05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Helvetica Neue Medium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4;p3">
            <a:extLst>
              <a:ext uri="{FF2B5EF4-FFF2-40B4-BE49-F238E27FC236}">
                <a16:creationId xmlns:a16="http://schemas.microsoft.com/office/drawing/2014/main" id="{EB065D02-B1D7-6282-0EF4-CDBFDEB1AA0A}"/>
              </a:ext>
            </a:extLst>
          </p:cNvPr>
          <p:cNvSpPr txBox="1"/>
          <p:nvPr/>
        </p:nvSpPr>
        <p:spPr>
          <a:xfrm>
            <a:off x="203199" y="254001"/>
            <a:ext cx="1122053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u="none" strike="noStrike" cap="none" dirty="0">
                <a:solidFill>
                  <a:schemeClr val="dk1"/>
                </a:solidFill>
                <a:latin typeface="+mn-lt"/>
                <a:ea typeface="PT Sans"/>
                <a:cs typeface="PT Sans"/>
                <a:sym typeface="PT Sans"/>
              </a:rPr>
              <a:t>Структурирование исследовательской работы</a:t>
            </a:r>
            <a:endParaRPr sz="3600" b="1" dirty="0">
              <a:solidFill>
                <a:schemeClr val="dk1"/>
              </a:solidFill>
              <a:latin typeface="+mn-lt"/>
              <a:ea typeface="PT Sans"/>
              <a:cs typeface="PT Sans"/>
              <a:sym typeface="PT Sans"/>
            </a:endParaRPr>
          </a:p>
        </p:txBody>
      </p:sp>
      <p:cxnSp>
        <p:nvCxnSpPr>
          <p:cNvPr id="4" name="Google Shape;105;p3">
            <a:extLst>
              <a:ext uri="{FF2B5EF4-FFF2-40B4-BE49-F238E27FC236}">
                <a16:creationId xmlns:a16="http://schemas.microsoft.com/office/drawing/2014/main" id="{BBD71042-7DD9-535F-236A-5DBF94B1F69D}"/>
              </a:ext>
            </a:extLst>
          </p:cNvPr>
          <p:cNvCxnSpPr/>
          <p:nvPr/>
        </p:nvCxnSpPr>
        <p:spPr>
          <a:xfrm>
            <a:off x="0" y="921172"/>
            <a:ext cx="3888606" cy="0"/>
          </a:xfrm>
          <a:prstGeom prst="straightConnector1">
            <a:avLst/>
          </a:prstGeom>
          <a:noFill/>
          <a:ln w="47625" cap="flat" cmpd="sng">
            <a:solidFill>
              <a:srgbClr val="FF6B0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279654C-A11D-8886-BA27-A05A695AF093}"/>
              </a:ext>
            </a:extLst>
          </p:cNvPr>
          <p:cNvGrpSpPr/>
          <p:nvPr/>
        </p:nvGrpSpPr>
        <p:grpSpPr>
          <a:xfrm>
            <a:off x="203199" y="1478071"/>
            <a:ext cx="10058009" cy="5238661"/>
            <a:chOff x="203199" y="1478071"/>
            <a:chExt cx="10058009" cy="5238661"/>
          </a:xfrm>
        </p:grpSpPr>
        <p:pic>
          <p:nvPicPr>
            <p:cNvPr id="2" name="Рисунок 1">
              <a:extLst>
                <a:ext uri="{FF2B5EF4-FFF2-40B4-BE49-F238E27FC236}">
                  <a16:creationId xmlns:a16="http://schemas.microsoft.com/office/drawing/2014/main" id="{CB570F65-EB5B-31F0-065A-18C03E79B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919"/>
            <a:stretch>
              <a:fillRect/>
            </a:stretch>
          </p:blipFill>
          <p:spPr bwMode="auto">
            <a:xfrm>
              <a:off x="203199" y="1628383"/>
              <a:ext cx="10058009" cy="5088349"/>
            </a:xfrm>
            <a:prstGeom prst="rect">
              <a:avLst/>
            </a:prstGeom>
          </p:spPr>
        </p:pic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95F339E6-530F-2B78-AE1C-19FCACF6541F}"/>
                </a:ext>
              </a:extLst>
            </p:cNvPr>
            <p:cNvSpPr/>
            <p:nvPr/>
          </p:nvSpPr>
          <p:spPr>
            <a:xfrm>
              <a:off x="739036" y="1478071"/>
              <a:ext cx="2605413" cy="3006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082603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11126</TotalTime>
  <Words>2610</Words>
  <Application>Microsoft Macintosh PowerPoint</Application>
  <PresentationFormat>Широкоэкранный</PresentationFormat>
  <Paragraphs>377</Paragraphs>
  <Slides>32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32</vt:i4>
      </vt:variant>
    </vt:vector>
  </HeadingPairs>
  <TitlesOfParts>
    <vt:vector size="40" baseType="lpstr">
      <vt:lpstr>Gramatika</vt:lpstr>
      <vt:lpstr>Calibri Light</vt:lpstr>
      <vt:lpstr>Wingdings</vt:lpstr>
      <vt:lpstr>PT Sans</vt:lpstr>
      <vt:lpstr>Arial</vt:lpstr>
      <vt:lpstr>Calibri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Об эксперименте </vt:lpstr>
      <vt:lpstr>Презентация PowerPoint</vt:lpstr>
      <vt:lpstr>Результаты заданий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Anastasia Fateeva</dc:creator>
  <cp:lastModifiedBy>Ульяна</cp:lastModifiedBy>
  <cp:revision>32</cp:revision>
  <dcterms:created xsi:type="dcterms:W3CDTF">2024-05-13T17:06:01Z</dcterms:created>
  <dcterms:modified xsi:type="dcterms:W3CDTF">2026-02-12T13:26:32Z</dcterms:modified>
</cp:coreProperties>
</file>