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96" r:id="rId3"/>
    <p:sldId id="279" r:id="rId4"/>
    <p:sldId id="288" r:id="rId5"/>
    <p:sldId id="289" r:id="rId6"/>
    <p:sldId id="291" r:id="rId7"/>
    <p:sldId id="303" r:id="rId8"/>
    <p:sldId id="300" r:id="rId9"/>
    <p:sldId id="301" r:id="rId10"/>
    <p:sldId id="284" r:id="rId11"/>
    <p:sldId id="293" r:id="rId12"/>
    <p:sldId id="29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2D3"/>
    <a:srgbClr val="A80C47"/>
    <a:srgbClr val="30F03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46" autoAdjust="0"/>
  </p:normalViewPr>
  <p:slideViewPr>
    <p:cSldViewPr>
      <p:cViewPr varScale="1">
        <p:scale>
          <a:sx n="126" d="100"/>
          <a:sy n="126" d="100"/>
        </p:scale>
        <p:origin x="-11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D040D-2AE8-449C-AC0C-DD083273FF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C5853-BCCE-4A6C-9362-BC66D026FC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C5853-BCCE-4A6C-9362-BC66D026FC4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C5853-BCCE-4A6C-9362-BC66D026FC4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C5853-BCCE-4A6C-9362-BC66D026FC4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C5853-BCCE-4A6C-9362-BC66D026FC4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C5853-BCCE-4A6C-9362-BC66D026FC4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C5853-BCCE-4A6C-9362-BC66D026FC4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923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Презентация проекта «Развивающий искусственный интеллект»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33400" y="5638800"/>
            <a:ext cx="8229600" cy="8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Юрий Пахомов,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komr2009@yandex.ru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84238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Проблема и замысел проекта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62500" lnSpcReduction="20000"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ru-RU" dirty="0" smtClean="0"/>
              <a:t>Проблема, с которой я предполагаю работать в горизонте ближайшего года – негативные последствия использования ИИ в системах образования, среднего и особенно высшего. Учащиеся «делегируют» ИИ выполнять домашние задания, писать контрольные, рефераты, курсовые и дипломы. Т.е., избегают собственного включения в учебную деятельность, за счет которой должны были бы формироваться их знания и развиваться мышление.</a:t>
            </a:r>
          </a:p>
          <a:p>
            <a:pPr marL="514350" lvl="0" indent="-514350" algn="just">
              <a:buFont typeface="+mj-lt"/>
              <a:buAutoNum type="arabicPeriod"/>
            </a:pPr>
            <a:endParaRPr lang="en-US" dirty="0" smtClean="0"/>
          </a:p>
          <a:p>
            <a:pPr marL="514350" lvl="0" indent="-514350" algn="just">
              <a:buFont typeface="+mj-lt"/>
              <a:buAutoNum type="arabicPeriod"/>
            </a:pPr>
            <a:r>
              <a:rPr lang="ru-RU" dirty="0" smtClean="0"/>
              <a:t>Предполагаемый путь решения проблемы – разработка принципов, техник и методик ведения развернутого диалога с ИИ (освоение сложно организованного знания либо получение нового, не существовавшего прежде знания). Гипотеза:  опыт ведения диалогов согласно разработанным принципам и методикам не только защитит пользователя от деградации мышления, но и обеспечит ускоренное развитие интеллектуальных способностей: понимания, мышления, рефлексии.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Типы взаимодействия Человек-</a:t>
            </a:r>
            <a:r>
              <a:rPr lang="en-US" sz="3600" dirty="0" smtClean="0"/>
              <a:t>LLM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198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95400"/>
                <a:gridCol w="2438400"/>
                <a:gridCol w="3124200"/>
              </a:tblGrid>
              <a:tr h="167640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Тип 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</a:rPr>
                        <a:t>взаимо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 действия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Запрос</a:t>
                      </a:r>
                    </a:p>
                    <a:p>
                      <a:endParaRPr lang="ru-RU" dirty="0" smtClean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Динамика смысла</a:t>
                      </a:r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2209800" y="403859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apezoid 7"/>
          <p:cNvSpPr/>
          <p:nvPr/>
        </p:nvSpPr>
        <p:spPr>
          <a:xfrm>
            <a:off x="3200400" y="4495798"/>
            <a:ext cx="762000" cy="609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876800" y="3733798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gular Pentagon 9"/>
          <p:cNvSpPr/>
          <p:nvPr/>
        </p:nvSpPr>
        <p:spPr>
          <a:xfrm>
            <a:off x="4038600" y="4038598"/>
            <a:ext cx="685800" cy="685800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gular Pentagon 10"/>
          <p:cNvSpPr/>
          <p:nvPr/>
        </p:nvSpPr>
        <p:spPr>
          <a:xfrm>
            <a:off x="3276600" y="4495798"/>
            <a:ext cx="609600" cy="609600"/>
          </a:xfrm>
          <a:prstGeom prst="pentag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114800" y="4190998"/>
            <a:ext cx="533400" cy="5334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764374" y="457199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 rot="20267998">
            <a:off x="5706887" y="4384070"/>
            <a:ext cx="990600" cy="554744"/>
          </a:xfrm>
          <a:prstGeom prst="ellipse">
            <a:avLst/>
          </a:prstGeom>
          <a:solidFill>
            <a:schemeClr val="accent1">
              <a:alpha val="25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rot="20634188">
            <a:off x="5680328" y="4172581"/>
            <a:ext cx="1541869" cy="888890"/>
          </a:xfrm>
          <a:prstGeom prst="ellipse">
            <a:avLst/>
          </a:prstGeom>
          <a:solidFill>
            <a:schemeClr val="accent1">
              <a:alpha val="25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rot="20634188">
            <a:off x="5641281" y="3852532"/>
            <a:ext cx="2543999" cy="1229084"/>
          </a:xfrm>
          <a:prstGeom prst="ellipse">
            <a:avLst/>
          </a:prstGeom>
          <a:solidFill>
            <a:schemeClr val="accent1">
              <a:alpha val="25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2362200" y="21335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6477000" y="19049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6858000" y="22097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4572000" y="2209798"/>
            <a:ext cx="685800" cy="2286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rot="10800000">
            <a:off x="2362200" y="23621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10800000">
            <a:off x="4572000" y="2438397"/>
            <a:ext cx="685800" cy="2286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0800000">
            <a:off x="7010400" y="23621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10800000">
            <a:off x="6629400" y="20573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7239000" y="25145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7620000" y="28193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10800000">
            <a:off x="7772400" y="29717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10800000">
            <a:off x="7391400" y="2666998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rved Down Arrow 32"/>
          <p:cNvSpPr/>
          <p:nvPr/>
        </p:nvSpPr>
        <p:spPr>
          <a:xfrm flipH="1" flipV="1">
            <a:off x="4191000" y="2666998"/>
            <a:ext cx="838200" cy="381000"/>
          </a:xfrm>
          <a:prstGeom prst="curvedDownArrow">
            <a:avLst>
              <a:gd name="adj1" fmla="val 25000"/>
              <a:gd name="adj2" fmla="val 51691"/>
              <a:gd name="adj3" fmla="val 41322"/>
            </a:avLst>
          </a:prstGeom>
          <a:solidFill>
            <a:srgbClr val="FF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urved Down Arrow 33"/>
          <p:cNvSpPr/>
          <p:nvPr/>
        </p:nvSpPr>
        <p:spPr>
          <a:xfrm>
            <a:off x="4267200" y="1828798"/>
            <a:ext cx="762000" cy="381000"/>
          </a:xfrm>
          <a:prstGeom prst="curvedDownArrow">
            <a:avLst>
              <a:gd name="adj1" fmla="val 25000"/>
              <a:gd name="adj2" fmla="val 51691"/>
              <a:gd name="adj3" fmla="val 41322"/>
            </a:avLst>
          </a:prstGeom>
          <a:solidFill>
            <a:srgbClr val="FF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Up Arrow 34"/>
          <p:cNvSpPr/>
          <p:nvPr/>
        </p:nvSpPr>
        <p:spPr>
          <a:xfrm>
            <a:off x="4191000" y="2285998"/>
            <a:ext cx="152400" cy="304800"/>
          </a:xfrm>
          <a:prstGeom prst="upArrow">
            <a:avLst/>
          </a:prstGeom>
          <a:solidFill>
            <a:srgbClr val="FF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24200" y="2858867"/>
            <a:ext cx="240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Уточнение</a:t>
            </a:r>
          </a:p>
          <a:p>
            <a:r>
              <a:rPr lang="ru-RU" dirty="0" smtClean="0"/>
              <a:t>Петля обратной связи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38800" y="2666998"/>
            <a:ext cx="2332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Связный диалог</a:t>
            </a:r>
          </a:p>
          <a:p>
            <a:r>
              <a:rPr lang="ru-RU" dirty="0" smtClean="0"/>
              <a:t>с углублением</a:t>
            </a:r>
          </a:p>
          <a:p>
            <a:r>
              <a:rPr lang="ru-RU" dirty="0" smtClean="0"/>
              <a:t>В тему/проблему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011223" y="2819398"/>
            <a:ext cx="960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Запрос-</a:t>
            </a:r>
          </a:p>
          <a:p>
            <a:r>
              <a:rPr lang="ru-RU" dirty="0" smtClean="0"/>
              <a:t>Ответ</a:t>
            </a:r>
            <a:endParaRPr lang="en-US" dirty="0"/>
          </a:p>
        </p:txBody>
      </p:sp>
      <p:grpSp>
        <p:nvGrpSpPr>
          <p:cNvPr id="3" name="Group 56"/>
          <p:cNvGrpSpPr/>
          <p:nvPr/>
        </p:nvGrpSpPr>
        <p:grpSpPr>
          <a:xfrm>
            <a:off x="1905000" y="1981198"/>
            <a:ext cx="381000" cy="838200"/>
            <a:chOff x="3657600" y="5029200"/>
            <a:chExt cx="381000" cy="838200"/>
          </a:xfrm>
        </p:grpSpPr>
        <p:grpSp>
          <p:nvGrpSpPr>
            <p:cNvPr id="4" name="Group 45"/>
            <p:cNvGrpSpPr/>
            <p:nvPr/>
          </p:nvGrpSpPr>
          <p:grpSpPr>
            <a:xfrm>
              <a:off x="3733800" y="5029200"/>
              <a:ext cx="228600" cy="609600"/>
              <a:chOff x="3733800" y="5029200"/>
              <a:chExt cx="228600" cy="609600"/>
            </a:xfrm>
          </p:grpSpPr>
          <p:sp>
            <p:nvSpPr>
              <p:cNvPr id="44" name="Regular Pentagon 43"/>
              <p:cNvSpPr/>
              <p:nvPr/>
            </p:nvSpPr>
            <p:spPr>
              <a:xfrm>
                <a:off x="3733800" y="5181600"/>
                <a:ext cx="228600" cy="457200"/>
              </a:xfrm>
              <a:prstGeom prst="pen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3733800" y="50292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8" name="Straight Connector 47"/>
            <p:cNvCxnSpPr/>
            <p:nvPr/>
          </p:nvCxnSpPr>
          <p:spPr>
            <a:xfrm flipH="1">
              <a:off x="3657600" y="5334000"/>
              <a:ext cx="76200" cy="22860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810000" y="5638800"/>
              <a:ext cx="0" cy="228600"/>
            </a:xfrm>
            <a:prstGeom prst="line">
              <a:avLst/>
            </a:prstGeom>
            <a:ln w="698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886200" y="5638800"/>
              <a:ext cx="0" cy="228600"/>
            </a:xfrm>
            <a:prstGeom prst="line">
              <a:avLst/>
            </a:prstGeom>
            <a:ln w="698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962400" y="5334000"/>
              <a:ext cx="76200" cy="22860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57"/>
          <p:cNvGrpSpPr/>
          <p:nvPr/>
        </p:nvGrpSpPr>
        <p:grpSpPr>
          <a:xfrm>
            <a:off x="3657600" y="1981198"/>
            <a:ext cx="381000" cy="838200"/>
            <a:chOff x="3657600" y="5029200"/>
            <a:chExt cx="381000" cy="838200"/>
          </a:xfrm>
        </p:grpSpPr>
        <p:grpSp>
          <p:nvGrpSpPr>
            <p:cNvPr id="26" name="Group 45"/>
            <p:cNvGrpSpPr/>
            <p:nvPr/>
          </p:nvGrpSpPr>
          <p:grpSpPr>
            <a:xfrm>
              <a:off x="3733800" y="5029200"/>
              <a:ext cx="228600" cy="609600"/>
              <a:chOff x="3733800" y="5029200"/>
              <a:chExt cx="228600" cy="609600"/>
            </a:xfrm>
          </p:grpSpPr>
          <p:sp>
            <p:nvSpPr>
              <p:cNvPr id="64" name="Regular Pentagon 63"/>
              <p:cNvSpPr/>
              <p:nvPr/>
            </p:nvSpPr>
            <p:spPr>
              <a:xfrm>
                <a:off x="3733800" y="5181600"/>
                <a:ext cx="228600" cy="457200"/>
              </a:xfrm>
              <a:prstGeom prst="pen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733800" y="50292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0" name="Straight Connector 59"/>
            <p:cNvCxnSpPr/>
            <p:nvPr/>
          </p:nvCxnSpPr>
          <p:spPr>
            <a:xfrm flipH="1">
              <a:off x="3657600" y="5334000"/>
              <a:ext cx="76200" cy="22860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810000" y="5638800"/>
              <a:ext cx="0" cy="228600"/>
            </a:xfrm>
            <a:prstGeom prst="line">
              <a:avLst/>
            </a:prstGeom>
            <a:ln w="698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886200" y="5638800"/>
              <a:ext cx="0" cy="228600"/>
            </a:xfrm>
            <a:prstGeom prst="line">
              <a:avLst/>
            </a:prstGeom>
            <a:ln w="698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962400" y="5334000"/>
              <a:ext cx="76200" cy="22860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65"/>
          <p:cNvGrpSpPr/>
          <p:nvPr/>
        </p:nvGrpSpPr>
        <p:grpSpPr>
          <a:xfrm>
            <a:off x="5638800" y="1904998"/>
            <a:ext cx="381000" cy="838200"/>
            <a:chOff x="3657600" y="5029200"/>
            <a:chExt cx="381000" cy="838200"/>
          </a:xfrm>
        </p:grpSpPr>
        <p:grpSp>
          <p:nvGrpSpPr>
            <p:cNvPr id="28" name="Group 45"/>
            <p:cNvGrpSpPr/>
            <p:nvPr/>
          </p:nvGrpSpPr>
          <p:grpSpPr>
            <a:xfrm>
              <a:off x="3733800" y="5029200"/>
              <a:ext cx="228600" cy="609600"/>
              <a:chOff x="3733800" y="5029200"/>
              <a:chExt cx="228600" cy="609600"/>
            </a:xfrm>
          </p:grpSpPr>
          <p:sp>
            <p:nvSpPr>
              <p:cNvPr id="72" name="Regular Pentagon 71"/>
              <p:cNvSpPr/>
              <p:nvPr/>
            </p:nvSpPr>
            <p:spPr>
              <a:xfrm>
                <a:off x="3733800" y="5181600"/>
                <a:ext cx="228600" cy="457200"/>
              </a:xfrm>
              <a:prstGeom prst="pen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3733800" y="50292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8" name="Straight Connector 67"/>
            <p:cNvCxnSpPr/>
            <p:nvPr/>
          </p:nvCxnSpPr>
          <p:spPr>
            <a:xfrm flipH="1">
              <a:off x="3657600" y="5334000"/>
              <a:ext cx="76200" cy="22860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810000" y="5638800"/>
              <a:ext cx="0" cy="228600"/>
            </a:xfrm>
            <a:prstGeom prst="line">
              <a:avLst/>
            </a:prstGeom>
            <a:ln w="698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886200" y="5638800"/>
              <a:ext cx="0" cy="228600"/>
            </a:xfrm>
            <a:prstGeom prst="line">
              <a:avLst/>
            </a:prstGeom>
            <a:ln w="698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962400" y="5334000"/>
              <a:ext cx="76200" cy="22860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0838"/>
            <a:ext cx="8991600" cy="79216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Типы диалогического взаимодействия  Человек-</a:t>
            </a:r>
            <a:r>
              <a:rPr lang="en-US" sz="3200" dirty="0" smtClean="0"/>
              <a:t>LLM</a:t>
            </a: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04800" y="1524000"/>
          <a:ext cx="8610600" cy="479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368"/>
                <a:gridCol w="2613932"/>
                <a:gridCol w="43053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Тип диалога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Степень освоенности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Пример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Познавательный</a:t>
                      </a:r>
                      <a:endParaRPr lang="en-US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Как устроена и работает </a:t>
                      </a:r>
                      <a:r>
                        <a:rPr lang="en-US" dirty="0" smtClean="0"/>
                        <a:t>LLM</a:t>
                      </a:r>
                      <a:r>
                        <a:rPr lang="ru-RU" dirty="0" smtClean="0"/>
                        <a:t>? </a:t>
                      </a:r>
                      <a:r>
                        <a:rPr lang="ru-RU" i="1" dirty="0" smtClean="0"/>
                        <a:t>Специфический тип обучения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33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ru-RU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Поисковый</a:t>
                      </a:r>
                      <a:endParaRPr lang="en-US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ru-RU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Пишем фантастический рассказ</a:t>
                      </a:r>
                    </a:p>
                    <a:p>
                      <a:endParaRPr lang="ru-RU" sz="600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Формулируруем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гипотезу в области психологии и намечаем путь проверки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Ставим философскую проблему и намечаем путь решения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Ищем мою ЗБР в сфере диалогов с 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endParaRPr kumimoji="0" lang="ru-RU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Психотерапев</a:t>
                      </a:r>
                      <a:endParaRPr lang="ru-RU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тический</a:t>
                      </a:r>
                      <a:endParaRPr lang="en-US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«Перестала пользоваться услугами   психолога»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Простое</a:t>
                      </a:r>
                      <a:r>
                        <a:rPr lang="ru-RU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челове</a:t>
                      </a:r>
                      <a:r>
                        <a:rPr lang="ru-RU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ческое</a:t>
                      </a:r>
                      <a:r>
                        <a:rPr lang="ru-RU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общение</a:t>
                      </a:r>
                      <a:endParaRPr lang="en-US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Демонстрации перед офисом </a:t>
                      </a:r>
                      <a:r>
                        <a:rPr lang="en-US" dirty="0" smtClean="0"/>
                        <a:t>Open AI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6" name="5-Point Star 55"/>
          <p:cNvSpPr/>
          <p:nvPr/>
        </p:nvSpPr>
        <p:spPr>
          <a:xfrm>
            <a:off x="2209800" y="21336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5-Point Star 56"/>
          <p:cNvSpPr/>
          <p:nvPr/>
        </p:nvSpPr>
        <p:spPr>
          <a:xfrm>
            <a:off x="2590800" y="21336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5-Point Star 57"/>
          <p:cNvSpPr/>
          <p:nvPr/>
        </p:nvSpPr>
        <p:spPr>
          <a:xfrm>
            <a:off x="2971800" y="21336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5-Point Star 58"/>
          <p:cNvSpPr/>
          <p:nvPr/>
        </p:nvSpPr>
        <p:spPr>
          <a:xfrm>
            <a:off x="3352800" y="21336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5-Point Star 65"/>
          <p:cNvSpPr/>
          <p:nvPr/>
        </p:nvSpPr>
        <p:spPr>
          <a:xfrm>
            <a:off x="3733800" y="21336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5-Point Star 66"/>
          <p:cNvSpPr/>
          <p:nvPr/>
        </p:nvSpPr>
        <p:spPr>
          <a:xfrm>
            <a:off x="2209800" y="32004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5-Point Star 73"/>
          <p:cNvSpPr/>
          <p:nvPr/>
        </p:nvSpPr>
        <p:spPr>
          <a:xfrm>
            <a:off x="2590800" y="32004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5-Point Star 74"/>
          <p:cNvSpPr/>
          <p:nvPr/>
        </p:nvSpPr>
        <p:spPr>
          <a:xfrm>
            <a:off x="2971800" y="32004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5-Point Star 75"/>
          <p:cNvSpPr/>
          <p:nvPr/>
        </p:nvSpPr>
        <p:spPr>
          <a:xfrm>
            <a:off x="3352800" y="32004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5-Point Star 76"/>
          <p:cNvSpPr/>
          <p:nvPr/>
        </p:nvSpPr>
        <p:spPr>
          <a:xfrm>
            <a:off x="3733800" y="32004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5-Point Star 77"/>
          <p:cNvSpPr/>
          <p:nvPr/>
        </p:nvSpPr>
        <p:spPr>
          <a:xfrm>
            <a:off x="2133600" y="51816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5-Point Star 78"/>
          <p:cNvSpPr/>
          <p:nvPr/>
        </p:nvSpPr>
        <p:spPr>
          <a:xfrm>
            <a:off x="2514600" y="51816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5-Point Star 79"/>
          <p:cNvSpPr/>
          <p:nvPr/>
        </p:nvSpPr>
        <p:spPr>
          <a:xfrm>
            <a:off x="2895600" y="51816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5-Point Star 80"/>
          <p:cNvSpPr/>
          <p:nvPr/>
        </p:nvSpPr>
        <p:spPr>
          <a:xfrm>
            <a:off x="3276600" y="51816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5-Point Star 81"/>
          <p:cNvSpPr/>
          <p:nvPr/>
        </p:nvSpPr>
        <p:spPr>
          <a:xfrm>
            <a:off x="3657600" y="51816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5-Point Star 82"/>
          <p:cNvSpPr/>
          <p:nvPr/>
        </p:nvSpPr>
        <p:spPr>
          <a:xfrm>
            <a:off x="2133600" y="58674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5-Point Star 83"/>
          <p:cNvSpPr/>
          <p:nvPr/>
        </p:nvSpPr>
        <p:spPr>
          <a:xfrm>
            <a:off x="2514600" y="58674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5-Point Star 84"/>
          <p:cNvSpPr/>
          <p:nvPr/>
        </p:nvSpPr>
        <p:spPr>
          <a:xfrm>
            <a:off x="2895600" y="58674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5-Point Star 85"/>
          <p:cNvSpPr/>
          <p:nvPr/>
        </p:nvSpPr>
        <p:spPr>
          <a:xfrm>
            <a:off x="3276600" y="58674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5-Point Star 86"/>
          <p:cNvSpPr/>
          <p:nvPr/>
        </p:nvSpPr>
        <p:spPr>
          <a:xfrm>
            <a:off x="3657600" y="5867400"/>
            <a:ext cx="304800" cy="304800"/>
          </a:xfrm>
          <a:prstGeom prst="star5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4648200" y="2590800"/>
            <a:ext cx="3962400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Готовим доклад к конференции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0838"/>
            <a:ext cx="8991600" cy="79216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Познавательный диалог </a:t>
            </a:r>
            <a:r>
              <a:rPr lang="en-US" sz="3200" dirty="0" smtClean="0"/>
              <a:t>VS </a:t>
            </a:r>
            <a:r>
              <a:rPr lang="ru-RU" sz="3200" dirty="0" smtClean="0"/>
              <a:t>систематический </a:t>
            </a:r>
            <a:br>
              <a:rPr lang="ru-RU" sz="3200" dirty="0" smtClean="0"/>
            </a:br>
            <a:r>
              <a:rPr lang="ru-RU" sz="3200" dirty="0" smtClean="0"/>
              <a:t>учебный курс: плюсы и минусы</a:t>
            </a: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1676400"/>
          <a:ext cx="8762999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619"/>
                <a:gridCol w="3353311"/>
                <a:gridCol w="362606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Тип обучения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Плюсы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Минусы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Систематический учебный</a:t>
                      </a:r>
                      <a:r>
                        <a:rPr lang="ru-RU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курс: </a:t>
                      </a:r>
                      <a:r>
                        <a:rPr lang="ru-RU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Освоение  с нуля.  Равномерное движение по всем разделам предмета 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Полнота освоения темы и связность разных ее разделов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Меньше вероятность заблуждений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Ниже мотивация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Ниже скорость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Хуже запоминание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Возможны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отрицат</a:t>
                      </a:r>
                      <a:r>
                        <a:rPr lang="ru-RU" baseline="0" dirty="0" smtClean="0"/>
                        <a:t> эмоции</a:t>
                      </a:r>
                    </a:p>
                    <a:p>
                      <a:endParaRPr lang="ru-RU" sz="600" dirty="0" smtClean="0"/>
                    </a:p>
                    <a:p>
                      <a:endParaRPr lang="ru-RU" i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6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Познавательный диалог с </a:t>
                      </a:r>
                      <a:r>
                        <a:rPr lang="ru-RU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чат-системой</a:t>
                      </a:r>
                      <a:r>
                        <a:rPr lang="ru-RU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914400" rtl="0" eaLnBrk="1" latinLnBrk="0" hangingPunct="1"/>
                      <a:r>
                        <a:rPr lang="ru-RU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Движение</a:t>
                      </a:r>
                      <a:r>
                        <a:rPr lang="ru-RU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от интуитивно освоенного вглубь  и вширь через «точки любопытства»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None/>
                      </a:pPr>
                      <a:r>
                        <a:rPr lang="ru-RU" dirty="0" smtClean="0"/>
                        <a:t>Более высокая мотивация, интенсивность процесса. Следствия: 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endParaRPr lang="ru-RU" sz="800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 Больше положит эмоций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 Выше скорость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 Выше концентрация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 Прочнее запоминание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dirty="0" smtClean="0"/>
                        <a:t>  Недостаточная связность   освоенного с другими разделами</a:t>
                      </a:r>
                      <a:r>
                        <a:rPr lang="ru-RU" baseline="0" dirty="0" smtClean="0"/>
                        <a:t> темы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ru-RU" baseline="0" dirty="0" smtClean="0"/>
                        <a:t>  Выше вероятность заблуждений в «стартовом тезаурусе»</a:t>
                      </a:r>
                      <a:endParaRPr lang="ru-RU" dirty="0" smtClean="0"/>
                    </a:p>
                    <a:p>
                      <a:endParaRPr lang="ru-RU" sz="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0838"/>
            <a:ext cx="8991600" cy="79216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Диалог поискового типа. Полученные результаты</a:t>
            </a: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1295400"/>
          <a:ext cx="8763000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/>
                <a:gridCol w="4381500"/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Внешние</a:t>
                      </a:r>
                      <a:r>
                        <a:rPr lang="ru-RU" sz="2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результаты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Внутренние результаты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ru-RU" dirty="0" smtClean="0"/>
                        <a:t>Доклады</a:t>
                      </a:r>
                      <a:r>
                        <a:rPr lang="ru-RU" baseline="0" dirty="0" smtClean="0"/>
                        <a:t> на конференциях РУДН, РГГУ, </a:t>
                      </a:r>
                      <a:r>
                        <a:rPr lang="ru-RU" baseline="0" dirty="0" err="1" smtClean="0"/>
                        <a:t>Фин</a:t>
                      </a:r>
                      <a:r>
                        <a:rPr lang="ru-RU" baseline="0" dirty="0" smtClean="0"/>
                        <a:t> Университета, текущий доклад; отдельный доклад в  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Институте психологии АН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Принятые к публикации тезисы докладов и запрос на статью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Интерес со стороны неформальных групп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Font typeface="Arial" pitchFamily="34" charset="0"/>
                        <a:buNone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Темы: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Познавательный диалог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Трансдисциплинарный</a:t>
                      </a: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синтеза на основе системной экономики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Ключевое противоречие в познании 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endParaRPr kumimoji="0" lang="ru-RU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kumimoji="0" lang="ru-RU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Презентация проекта «Развивающий ИИ»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kumimoji="0" lang="ru-RU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ru-RU" dirty="0" smtClean="0"/>
                        <a:t>1.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Рефлексия и схематизация возможных</a:t>
                      </a:r>
                      <a:r>
                        <a:rPr lang="ru-RU" baseline="0" dirty="0" smtClean="0"/>
                        <a:t> стратегий ведения познавательного диалога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ru-RU" sz="500" baseline="0" dirty="0" smtClean="0"/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lang="ru-RU" baseline="0" dirty="0" smtClean="0"/>
                        <a:t>2. Рефлексия и схематизация типов и динамики понимания/непонимания 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ru-RU" sz="500" baseline="0" dirty="0" smtClean="0"/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lang="ru-RU" baseline="0" dirty="0" smtClean="0"/>
                        <a:t>3. Рефлексия и описание возможных ролей ИИ и пользователя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ru-RU" sz="500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baseline="0" dirty="0" smtClean="0"/>
                        <a:t>4. Рефлексия и описание качеств «эффективного пользователя»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ru-RU" sz="500" baseline="0" dirty="0" smtClean="0"/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lang="ru-RU" dirty="0" smtClean="0"/>
                        <a:t>5.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Пересмотр убеждений</a:t>
                      </a:r>
                      <a:r>
                        <a:rPr lang="ru-RU" baseline="0" dirty="0" smtClean="0"/>
                        <a:t> относительно некоторых философских вопросов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ru-RU" sz="500" dirty="0" smtClean="0"/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lang="ru-RU" dirty="0" smtClean="0"/>
                        <a:t>6. Рефлексия и схематизация рабочего пространства проекта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ru-RU" sz="500" dirty="0" smtClean="0"/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lang="ru-RU" dirty="0" smtClean="0"/>
                        <a:t>7.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Усложнение и пересмотр структуры рабочего пространства проекта </a:t>
                      </a:r>
                    </a:p>
                    <a:p>
                      <a:endParaRPr lang="ru-RU" sz="600" dirty="0" smtClean="0"/>
                    </a:p>
                    <a:p>
                      <a:endParaRPr lang="ru-RU" i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0838"/>
            <a:ext cx="8991600" cy="79216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/>
              <a:t>Критерии интеллектуального развития</a:t>
            </a:r>
            <a:br>
              <a:rPr lang="ru-RU" sz="3200" dirty="0" smtClean="0"/>
            </a:b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1645920"/>
          <a:ext cx="868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200"/>
                <a:gridCol w="4038600"/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Субъективный</a:t>
                      </a:r>
                      <a:r>
                        <a:rPr lang="ru-RU" sz="2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критерий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Объективные критерии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32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Готовность браться за решение любой задачи, к которой появился интерес -  независимо от сложности и предметной (</a:t>
                      </a:r>
                      <a:r>
                        <a:rPr kumimoji="0" lang="ru-RU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метапредметной</a:t>
                      </a: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области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kumimoji="0" lang="ru-RU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None/>
                      </a:pP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Уверенность в том, что задача будет решена независимо от того, </a:t>
                      </a:r>
                      <a:r>
                        <a:rPr kumimoji="0" lang="ru-RU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галлюци</a:t>
                      </a: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нирует</a:t>
                      </a: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ли ИИ и есть ли у меня </a:t>
                      </a:r>
                      <a:r>
                        <a:rPr kumimoji="0" lang="ru-RU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экспер</a:t>
                      </a: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тиза</a:t>
                      </a: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в предметной области задачи (</a:t>
                      </a:r>
                      <a:r>
                        <a:rPr kumimoji="0" 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в крайнем случае будет обоснована ошибочность постановки задачи</a:t>
                      </a: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1800"/>
                        </a:spcAft>
                        <a:buFont typeface="Arial" pitchFamily="34" charset="0"/>
                        <a:buAutoNum type="arabicPeriod"/>
                      </a:pPr>
                      <a:r>
                        <a:rPr lang="ru-RU" sz="2000" baseline="0" dirty="0" smtClean="0"/>
                        <a:t>Рефлексия и описание спонтанно применяемых способов работы с ИИ</a:t>
                      </a:r>
                    </a:p>
                    <a:p>
                      <a:pPr marL="342900" indent="-342900">
                        <a:spcAft>
                          <a:spcPts val="1800"/>
                        </a:spcAft>
                        <a:buFont typeface="Arial" pitchFamily="34" charset="0"/>
                        <a:buAutoNum type="arabicPeriod"/>
                      </a:pP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Осознанное применение описанных  способов работы</a:t>
                      </a:r>
                    </a:p>
                    <a:p>
                      <a:pPr marL="342900" indent="-342900">
                        <a:spcAft>
                          <a:spcPts val="1800"/>
                        </a:spcAft>
                        <a:buFont typeface="Arial" pitchFamily="34" charset="0"/>
                        <a:buAutoNum type="arabicPeriod"/>
                      </a:pP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Пересмотр, корректировка  и усложнение способов работы и их  предпосылок («</a:t>
                      </a:r>
                      <a:r>
                        <a:rPr lang="ru-RU" sz="2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фундамен</a:t>
                      </a: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тальных</a:t>
                      </a: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допущений»)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84238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Текущее состояние проекта. </a:t>
            </a:r>
            <a:br>
              <a:rPr lang="ru-RU" sz="3600" dirty="0" smtClean="0"/>
            </a:br>
            <a:r>
              <a:rPr lang="ru-RU" sz="3600" dirty="0" smtClean="0"/>
              <a:t>Основные результаты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876800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endParaRPr lang="ru-RU" sz="3500" dirty="0" smtClean="0"/>
          </a:p>
          <a:p>
            <a:pPr algn="just"/>
            <a:endParaRPr lang="ru-RU" sz="3300" dirty="0" smtClean="0"/>
          </a:p>
          <a:p>
            <a:pPr algn="just"/>
            <a:endParaRPr lang="ru-RU" sz="33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2400" y="1295400"/>
            <a:ext cx="8839200" cy="487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ru-RU" sz="2400" dirty="0" smtClean="0">
                <a:latin typeface="+mj-lt"/>
                <a:ea typeface="+mj-ea"/>
                <a:cs typeface="+mj-cs"/>
              </a:rPr>
              <a:t>1. 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Проведено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15-20 диалогов поискового типа, сохранено порядка 1000 страниц протоколов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2400" dirty="0" smtClean="0">
                <a:latin typeface="+mj-lt"/>
                <a:ea typeface="+mj-ea"/>
                <a:cs typeface="+mj-cs"/>
              </a:rPr>
              <a:t>2. По нескольким протоколам проведен первичный рефлексивный анализ силами самой </a:t>
            </a:r>
            <a:r>
              <a:rPr lang="en-US" sz="2400" dirty="0" smtClean="0">
                <a:latin typeface="+mj-lt"/>
                <a:ea typeface="+mj-ea"/>
                <a:cs typeface="+mj-cs"/>
              </a:rPr>
              <a:t>LLM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 (до критического осмысления полученных результатов «вручную»). Выделены: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400" dirty="0" smtClean="0">
                <a:latin typeface="+mj-lt"/>
                <a:ea typeface="+mj-ea"/>
                <a:cs typeface="+mj-cs"/>
              </a:rPr>
              <a:t>       - Свойства эффективного пользователя (чувствительность  к 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логико-смысловым нестыковкам 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и др.)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spcAft>
                <a:spcPts val="1200"/>
              </a:spcAft>
            </a:pP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- Роли, принимаемые пользователем и 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LLM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в диалоге (Оппонент, Интервьюер и др.)</a:t>
            </a:r>
          </a:p>
          <a:p>
            <a:pPr marL="457200" indent="-457200" algn="just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400" dirty="0" smtClean="0">
                <a:latin typeface="+mj-lt"/>
                <a:ea typeface="+mj-ea"/>
                <a:cs typeface="+mj-cs"/>
              </a:rPr>
              <a:t>3. Намечен пробный подход к выделению логико-смысловых единиц «гибридного» (диалоги </a:t>
            </a:r>
            <a:r>
              <a:rPr lang="ru-RU" sz="2400" dirty="0" err="1" smtClean="0">
                <a:latin typeface="+mj-lt"/>
                <a:ea typeface="+mj-ea"/>
                <a:cs typeface="+mj-cs"/>
              </a:rPr>
              <a:t>ческого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)  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мышления. В 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основу выделенных единиц  легли: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        - Концепция функционального органа (П.К.Анохин)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2400" dirty="0" smtClean="0">
                <a:latin typeface="+mj-lt"/>
                <a:ea typeface="+mj-ea"/>
                <a:cs typeface="+mj-cs"/>
              </a:rPr>
              <a:t>                 - Концепция тезауруса (</a:t>
            </a:r>
            <a:r>
              <a:rPr lang="ru-RU" sz="2400" dirty="0" err="1" smtClean="0">
                <a:latin typeface="+mj-lt"/>
                <a:ea typeface="+mj-ea"/>
                <a:cs typeface="+mj-cs"/>
              </a:rPr>
              <a:t>Ю.А.Шрейдер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        -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Концептуальный анализ (С.П.Никаноров)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2400" baseline="0" dirty="0" smtClean="0">
                <a:latin typeface="+mj-lt"/>
                <a:ea typeface="+mj-ea"/>
                <a:cs typeface="+mj-cs"/>
              </a:rPr>
              <a:t>                 -</a:t>
            </a:r>
            <a:r>
              <a:rPr lang="ru-RU" sz="2400" dirty="0" smtClean="0">
                <a:latin typeface="+mj-lt"/>
                <a:ea typeface="+mj-ea"/>
                <a:cs typeface="+mj-cs"/>
              </a:rPr>
              <a:t> Концепция развития интеллекта (Ж.Пиаже)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63762"/>
            <a:ext cx="8991600" cy="79216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ПРИЛОЖЕНИЕ</a:t>
            </a:r>
            <a:endParaRPr lang="en-US" sz="3600" b="1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04800" y="3078162"/>
            <a:ext cx="8229600" cy="8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Рабочее пространство проекта </a:t>
            </a:r>
            <a:b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и его эволюция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84238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Рабочее пространство проекта </a:t>
            </a:r>
            <a:br>
              <a:rPr lang="ru-RU" sz="3600" dirty="0" smtClean="0"/>
            </a:br>
            <a:r>
              <a:rPr lang="ru-RU" sz="3600" dirty="0" smtClean="0"/>
              <a:t>и его эволюция 1.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876800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endParaRPr lang="ru-RU" sz="3500" dirty="0" smtClean="0"/>
          </a:p>
          <a:p>
            <a:pPr algn="just"/>
            <a:endParaRPr lang="ru-RU" sz="3300" dirty="0" smtClean="0"/>
          </a:p>
          <a:p>
            <a:pPr algn="just"/>
            <a:endParaRPr lang="ru-RU" sz="33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1704975"/>
            <a:ext cx="771525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84238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Рабочее пространство проекта </a:t>
            </a:r>
            <a:br>
              <a:rPr lang="ru-RU" sz="3600" dirty="0" smtClean="0"/>
            </a:br>
            <a:r>
              <a:rPr lang="ru-RU" sz="3600" dirty="0" smtClean="0"/>
              <a:t>и его эволюция 2.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914400"/>
            <a:ext cx="4114800" cy="4953000"/>
          </a:xfrm>
        </p:spPr>
        <p:txBody>
          <a:bodyPr>
            <a:normAutofit fontScale="25000" lnSpcReduction="20000"/>
          </a:bodyPr>
          <a:lstStyle/>
          <a:p>
            <a:pPr marL="514350" indent="-514350" algn="just">
              <a:buNone/>
            </a:pPr>
            <a:endParaRPr lang="ru-RU" sz="3500" dirty="0" smtClean="0"/>
          </a:p>
          <a:p>
            <a:pPr algn="just"/>
            <a:endParaRPr lang="ru-RU" sz="3300" dirty="0" smtClean="0"/>
          </a:p>
          <a:p>
            <a:pPr lvl="0" algn="just">
              <a:buNone/>
            </a:pPr>
            <a:r>
              <a:rPr lang="ru-RU" sz="5600" dirty="0" smtClean="0"/>
              <a:t>         </a:t>
            </a:r>
            <a:r>
              <a:rPr lang="ru-RU" sz="6800" dirty="0" smtClean="0"/>
              <a:t>Педагогическая практика (1), из которой я переношу (а) проблему, на решение которой направлены </a:t>
            </a:r>
            <a:r>
              <a:rPr lang="ru-RU" sz="6800" dirty="0" err="1" smtClean="0"/>
              <a:t>экспери</a:t>
            </a:r>
            <a:endParaRPr lang="ru-RU" sz="6800" dirty="0" smtClean="0"/>
          </a:p>
          <a:p>
            <a:pPr lvl="0" algn="just">
              <a:buNone/>
            </a:pPr>
            <a:r>
              <a:rPr lang="ru-RU" sz="6800" dirty="0" smtClean="0"/>
              <a:t>       </a:t>
            </a:r>
            <a:r>
              <a:rPr lang="ru-RU" sz="6800" dirty="0" err="1" smtClean="0"/>
              <a:t>менты</a:t>
            </a:r>
            <a:r>
              <a:rPr lang="ru-RU" sz="6800" dirty="0" smtClean="0"/>
              <a:t>.</a:t>
            </a:r>
          </a:p>
          <a:p>
            <a:pPr lvl="0" algn="just">
              <a:buNone/>
            </a:pPr>
            <a:endParaRPr lang="ru-RU" sz="2400" dirty="0" smtClean="0"/>
          </a:p>
          <a:p>
            <a:pPr lvl="0" algn="just">
              <a:buNone/>
            </a:pPr>
            <a:r>
              <a:rPr lang="ru-RU" sz="6800" dirty="0" smtClean="0"/>
              <a:t>       Экспериментальная площадка (3), на которой я провожу «развивающие эксперименты» на себе в диалогах с ИИ.</a:t>
            </a:r>
            <a:endParaRPr lang="en-US" sz="6800" dirty="0" smtClean="0"/>
          </a:p>
          <a:p>
            <a:pPr lvl="0" algn="just">
              <a:buNone/>
            </a:pPr>
            <a:endParaRPr lang="ru-RU" sz="2400" dirty="0" smtClean="0"/>
          </a:p>
          <a:p>
            <a:pPr lvl="0" algn="just">
              <a:buNone/>
            </a:pPr>
            <a:r>
              <a:rPr lang="ru-RU" sz="5600" dirty="0" smtClean="0"/>
              <a:t>         </a:t>
            </a:r>
            <a:r>
              <a:rPr lang="ru-RU" sz="6800" dirty="0" smtClean="0"/>
              <a:t>Сфера философии и гуманитарных наук (2), из которых переносятся (б) проблемы, задачи и гипотезы для решения на площадке (3)</a:t>
            </a:r>
          </a:p>
          <a:p>
            <a:pPr lvl="0" algn="just"/>
            <a:endParaRPr lang="en-US" sz="2400" dirty="0" smtClean="0"/>
          </a:p>
          <a:p>
            <a:pPr lvl="0" algn="just">
              <a:buNone/>
            </a:pPr>
            <a:r>
              <a:rPr lang="ru-RU" sz="5600" dirty="0" smtClean="0"/>
              <a:t>         </a:t>
            </a:r>
            <a:r>
              <a:rPr lang="ru-RU" sz="6800" dirty="0" smtClean="0"/>
              <a:t>Результаты решения задач на </a:t>
            </a:r>
            <a:r>
              <a:rPr lang="ru-RU" sz="6800" dirty="0" err="1" smtClean="0"/>
              <a:t>площад</a:t>
            </a:r>
            <a:r>
              <a:rPr lang="ru-RU" sz="6800" dirty="0" smtClean="0"/>
              <a:t> </a:t>
            </a:r>
            <a:r>
              <a:rPr lang="ru-RU" sz="6800" dirty="0" err="1" smtClean="0"/>
              <a:t>ке</a:t>
            </a:r>
            <a:r>
              <a:rPr lang="ru-RU" sz="6800" dirty="0" smtClean="0"/>
              <a:t> (3) предъявляются и обсуждаются на конференциях (2). </a:t>
            </a:r>
          </a:p>
          <a:p>
            <a:pPr lvl="0" algn="just"/>
            <a:endParaRPr lang="en-US" sz="2400" dirty="0" smtClean="0"/>
          </a:p>
          <a:p>
            <a:pPr lvl="0" algn="just">
              <a:buNone/>
            </a:pPr>
            <a:r>
              <a:rPr lang="ru-RU" sz="5600" dirty="0" smtClean="0"/>
              <a:t>         </a:t>
            </a:r>
            <a:r>
              <a:rPr lang="ru-RU" sz="6800" dirty="0" smtClean="0"/>
              <a:t>Протоколы хода поисковых диалогов с ИИ, анализируются точки зрения тех ник, логик, тактик и стратегий ведения продуктивного диалога</a:t>
            </a:r>
          </a:p>
          <a:p>
            <a:pPr lvl="0" algn="just">
              <a:buNone/>
            </a:pPr>
            <a:r>
              <a:rPr lang="ru-RU" sz="6800" dirty="0" smtClean="0"/>
              <a:t> </a:t>
            </a:r>
            <a:endParaRPr lang="en-US" sz="6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219200"/>
            <a:ext cx="4648200" cy="480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172200" y="1981200"/>
            <a:ext cx="3581400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3600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84238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Рабочее пространство проекта </a:t>
            </a:r>
            <a:br>
              <a:rPr lang="ru-RU" sz="3600" dirty="0" smtClean="0"/>
            </a:br>
            <a:r>
              <a:rPr lang="ru-RU" sz="3600" dirty="0" smtClean="0"/>
              <a:t>и его эволюция 3.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876800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endParaRPr lang="ru-RU" sz="3500" dirty="0" smtClean="0"/>
          </a:p>
          <a:p>
            <a:pPr algn="just"/>
            <a:endParaRPr lang="ru-RU" sz="3300" dirty="0" smtClean="0"/>
          </a:p>
          <a:p>
            <a:pPr algn="just"/>
            <a:endParaRPr lang="ru-RU" sz="33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91380"/>
            <a:ext cx="5257800" cy="5327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884238"/>
          </a:xfrm>
        </p:spPr>
        <p:txBody>
          <a:bodyPr>
            <a:noAutofit/>
          </a:bodyPr>
          <a:lstStyle/>
          <a:p>
            <a:r>
              <a:rPr lang="ru-RU" sz="6000" dirty="0" smtClean="0"/>
              <a:t>СПАСИБО!</a:t>
            </a:r>
            <a:endParaRPr lang="en-US" sz="6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5973762"/>
            <a:ext cx="8229600" cy="8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Юрий Пахомов, 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komr2009@yandex.ru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5356</TotalTime>
  <Words>819</Words>
  <Application>Microsoft Office PowerPoint</Application>
  <PresentationFormat>On-screen Show (4:3)</PresentationFormat>
  <Paragraphs>155</Paragraphs>
  <Slides>13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Презентация проекта «Развивающий искусственный интеллект» </vt:lpstr>
      <vt:lpstr>Проблема и замысел проекта</vt:lpstr>
      <vt:lpstr>Типы взаимодействия Человек-LLM</vt:lpstr>
      <vt:lpstr>Типы диалогического взаимодействия  Человек-LLM</vt:lpstr>
      <vt:lpstr>Познавательный диалог VS систематический  учебный курс: плюсы и минусы</vt:lpstr>
      <vt:lpstr>Диалог поискового типа. Полученные результаты</vt:lpstr>
      <vt:lpstr> Критерии интеллектуального развития </vt:lpstr>
      <vt:lpstr>Текущее состояние проекта.  Основные результаты</vt:lpstr>
      <vt:lpstr>ПРИЛОЖЕНИЕ</vt:lpstr>
      <vt:lpstr>Рабочее пространство проекта  и его эволюция 1.</vt:lpstr>
      <vt:lpstr>Рабочее пространство проекта  и его эволюция 2.</vt:lpstr>
      <vt:lpstr>Рабочее пространство проекта  и его эволюция 3.</vt:lpstr>
      <vt:lpstr>СПАСИБО!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Проблема противоречивого знания в восприятии и познании больших языковых моделей </dc:title>
  <dc:creator>Papek</dc:creator>
  <cp:lastModifiedBy>Papek</cp:lastModifiedBy>
  <cp:revision>168</cp:revision>
  <dcterms:created xsi:type="dcterms:W3CDTF">2006-08-16T00:00:00Z</dcterms:created>
  <dcterms:modified xsi:type="dcterms:W3CDTF">2026-06-10T09:09:08Z</dcterms:modified>
</cp:coreProperties>
</file>